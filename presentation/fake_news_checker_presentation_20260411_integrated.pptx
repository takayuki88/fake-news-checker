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201168" cy="4754880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datamix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81328"/>
            <a:ext cx="630936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生成AI・機械学習エンジニア育成講座
卒業発表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630936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フェイクニュースチェッカー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07408"/>
            <a:ext cx="56692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Yu Gothic"/>
              </a:rPr>
              <a:t>20260401 本編資料 統合版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754880"/>
            <a:ext cx="56692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Yu Gothic"/>
              </a:rPr>
              <a:t>Fake News Checker / 2026年4月11日時点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559552"/>
            <a:ext cx="47548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Yu Gothic"/>
              </a:rPr>
              <a:t>2025年7月期　中村隆之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68512" y="1097280"/>
            <a:ext cx="2697480" cy="4480560"/>
          </a:xfrm>
          <a:prstGeom prst="roundRect">
            <a:avLst/>
          </a:prstGeom>
          <a:solidFill>
            <a:srgbClr val="F3EEE5"/>
          </a:solidFill>
          <a:ln w="14604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1481328"/>
            <a:ext cx="20116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626B76"/>
                </a:solidFill>
                <a:latin typeface="Yu Gothic"/>
              </a:rPr>
              <a:t>今回の更新点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1828800"/>
            <a:ext cx="2148840" cy="3154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本編の章立てを維持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最新 Ver2 rerun を反映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評価画像を差し替え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改善点を再整理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質疑向け参考図も更新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1. 課題と選んだ理由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誤った情報に踊らされず、正確な情報へ近づく支援を作る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5349240" cy="45262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81344" y="1389888"/>
            <a:ext cx="5349240" cy="452628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2103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社会的な背景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4663440" cy="3291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オールドメディアへの不信感が高まる一方で、X や YouTube など SNS の台頭により、多様な情報が大量に流通している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兵庫県知事の騒動のように、報道の偏りや受け手の分断が可視化された事例が続き、確認支援の必要性を強く感じた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戦時中にマスメディアが世論形成に大きく関与した歴史も踏まえ、情報をうのみにしない仕組みが必要だと考えた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1664208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個人的に選んだ理由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663440" cy="32461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昔、誤った情報に騙されて痛い出費をした経験があり、真偽を自分で確かめる重要性を痛感した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強い言葉や断定調に流されず、自分の頭で確認する補助があれば被害を減らせると考えた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だからこそ、断定の代行ではなく、正確な情報へ近づくための確認支援ツールを作りたいと考えた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4983480"/>
            <a:ext cx="141732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4983480"/>
            <a:ext cx="1417320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5148072"/>
            <a:ext cx="11430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5367528"/>
            <a:ext cx="11430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URL / 本文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4983480"/>
            <a:ext cx="132588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4983480"/>
            <a:ext cx="1325880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5148072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出力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5367528"/>
            <a:ext cx="10515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5区分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8" y="4983480"/>
            <a:ext cx="171907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28048" y="4983480"/>
            <a:ext cx="1719072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8" y="5148072"/>
            <a:ext cx="144475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8" y="5367528"/>
            <a:ext cx="144475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確認支援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2. 使用したデータについて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balanced 100件の real_article_dataset_v2 を使って最新 Ver2 を評価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3200400" cy="274320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69080" y="1481328"/>
            <a:ext cx="2880360" cy="274320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59752" y="1481328"/>
            <a:ext cx="4352544" cy="274320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2103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dataset の概要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48256"/>
            <a:ext cx="269748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ファイル: real_article_dataset_v2.json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件数: 100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curated_on: 2026-04-08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5区分は各20件で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55648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スキーマ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048256"/>
            <a:ext cx="219456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`id`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`expected_verdict`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`analysis_text`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`expected_domain`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`analysis_mode`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`claim_text`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`review_focus`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`human_note`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`contested_span`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755648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ドメイン分布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2048256"/>
            <a:ext cx="365760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一般: 75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医療: 5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金融: 2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災害: 2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政治: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526280"/>
            <a:ext cx="10808208" cy="105156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736592"/>
            <a:ext cx="10332720" cy="5486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評価対象は記事全文ではなく analysis_text に要約した中心命題で、expected_verdict と predicted_verdict を直接比較できるようにしている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3. 初期仮説・分析アプローチ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ローカル一次判定と Gemini の外部根拠比較を組み合わせれば、境界ケースを改善できると考えた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1444752"/>
            <a:ext cx="10826496" cy="1664208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10287000" cy="1005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仮説1: 出典の有無、著者、日付、リンク数、表現の強さなどのヒューリスティックで危険度の目安は作れる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仮説2: 境界ケースは Gemini の google_search と url_context を使った外部根拠比較を加えることで改善できる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仮説3: 書き振り評価は真偽判定と分離した方が、煽り表現だけで誤判定するリスクを下げられる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94760"/>
            <a:ext cx="1828800" cy="1261872"/>
          </a:xfrm>
          <a:prstGeom prst="roundRect">
            <a:avLst/>
          </a:prstGeom>
          <a:solidFill>
            <a:srgbClr val="13767A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URL または本文</a:t>
            </a:r>
          </a:p>
        </p:txBody>
      </p:sp>
      <p:sp>
        <p:nvSpPr>
          <p:cNvPr id="10" name="Chevron 9"/>
          <p:cNvSpPr/>
          <p:nvPr/>
        </p:nvSpPr>
        <p:spPr>
          <a:xfrm>
            <a:off x="2651760" y="4215384"/>
            <a:ext cx="320040" cy="310896"/>
          </a:xfrm>
          <a:prstGeom prst="chevron">
            <a:avLst/>
          </a:prstGeom>
          <a:solidFill>
            <a:srgbClr val="D9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3794760"/>
            <a:ext cx="1828800" cy="1261872"/>
          </a:xfrm>
          <a:prstGeom prst="roundRect">
            <a:avLst/>
          </a:prstGeom>
          <a:solidFill>
            <a:srgbClr val="C96D31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ローカル一次判定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risk / confidence / domain を推定</a:t>
            </a:r>
          </a:p>
        </p:txBody>
      </p:sp>
      <p:sp>
        <p:nvSpPr>
          <p:cNvPr id="14" name="Chevron 13"/>
          <p:cNvSpPr/>
          <p:nvPr/>
        </p:nvSpPr>
        <p:spPr>
          <a:xfrm>
            <a:off x="4846320" y="4215384"/>
            <a:ext cx="320040" cy="310896"/>
          </a:xfrm>
          <a:prstGeom prst="chevron">
            <a:avLst/>
          </a:prstGeom>
          <a:solidFill>
            <a:srgbClr val="D9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2352" y="3794760"/>
            <a:ext cx="1828800" cy="1261872"/>
          </a:xfrm>
          <a:prstGeom prst="roundRect">
            <a:avLst/>
          </a:prstGeom>
          <a:solidFill>
            <a:srgbClr val="458E5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Gemini 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外部根拠と反証を照合</a:t>
            </a:r>
          </a:p>
        </p:txBody>
      </p:sp>
      <p:sp>
        <p:nvSpPr>
          <p:cNvPr id="18" name="Chevron 17"/>
          <p:cNvSpPr/>
          <p:nvPr/>
        </p:nvSpPr>
        <p:spPr>
          <a:xfrm>
            <a:off x="7040880" y="4215384"/>
            <a:ext cx="320040" cy="310896"/>
          </a:xfrm>
          <a:prstGeom prst="chevron">
            <a:avLst/>
          </a:prstGeom>
          <a:solidFill>
            <a:srgbClr val="D9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96912" y="3794760"/>
            <a:ext cx="1828800" cy="1261872"/>
          </a:xfrm>
          <a:prstGeom prst="roundRect">
            <a:avLst/>
          </a:prstGeom>
          <a:solidFill>
            <a:srgbClr val="C96D31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書き振り評価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煽りや断定を別軸で評価</a:t>
            </a:r>
          </a:p>
        </p:txBody>
      </p:sp>
      <p:sp>
        <p:nvSpPr>
          <p:cNvPr id="22" name="Chevron 21"/>
          <p:cNvSpPr/>
          <p:nvPr/>
        </p:nvSpPr>
        <p:spPr>
          <a:xfrm>
            <a:off x="9235440" y="4215384"/>
            <a:ext cx="320040" cy="310896"/>
          </a:xfrm>
          <a:prstGeom prst="chevron">
            <a:avLst/>
          </a:prstGeom>
          <a:solidFill>
            <a:srgbClr val="D9D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91472" y="3794760"/>
            <a:ext cx="1828800" cy="1261872"/>
          </a:xfrm>
          <a:prstGeom prst="roundRect">
            <a:avLst/>
          </a:prstGeom>
          <a:solidFill>
            <a:srgbClr val="B53D3D"/>
          </a:solidFill>
          <a:ln w="14604">
            <a:solidFill>
              <a:srgbClr val="B5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出力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5区分・理由・確認リンク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3. プログラムの実行例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入力から判定結果の表示までを、実際の画面で確認する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481328"/>
            <a:ext cx="3703320" cy="42062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3703320" cy="82296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スクリーンショット (43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85739"/>
            <a:ext cx="3483864" cy="1959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413248"/>
            <a:ext cx="3483864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626B76"/>
                </a:solidFill>
                <a:latin typeface="Yu Gothic"/>
              </a:rPr>
              <a:t>1. 入力画面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481328"/>
            <a:ext cx="3703320" cy="42062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2816" y="1481328"/>
            <a:ext cx="3703320" cy="82296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スクリーンショット (46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485739"/>
            <a:ext cx="3483864" cy="19596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52544" y="5413248"/>
            <a:ext cx="3483864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626B76"/>
                </a:solidFill>
                <a:latin typeface="Yu Gothic"/>
              </a:rPr>
              <a:t>2. 判定中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81328"/>
            <a:ext cx="3703320" cy="42062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81328"/>
            <a:ext cx="3703320" cy="82296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スクリーンショット (465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7" y="2485739"/>
            <a:ext cx="3483864" cy="19596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65007" y="5413248"/>
            <a:ext cx="3483864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626B76"/>
                </a:solidFill>
                <a:latin typeface="Yu Gothic"/>
              </a:rPr>
              <a:t>3. 結果表示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815584"/>
            <a:ext cx="10744200" cy="402336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F3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07024"/>
            <a:ext cx="1024128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500" b="0">
                <a:solidFill>
                  <a:srgbClr val="1F2A34"/>
                </a:solidFill>
                <a:latin typeface="Yu Gothic"/>
              </a:rPr>
              <a:t>URL または本文を入力すると、判定中表示を経て、要注意度・5区分の判定・理由が返る。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3. 出力の見方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判定ラベルだけでなく、理由と確認補助情報も返す設計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426464"/>
            <a:ext cx="6492240" cy="4882896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1426464"/>
            <a:ext cx="4224528" cy="25786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0" y="4151376"/>
            <a:ext cx="4224528" cy="2157984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スクリーンショット (46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157984"/>
            <a:ext cx="6144768" cy="3456432"/>
          </a:xfrm>
          <a:prstGeom prst="rect">
            <a:avLst/>
          </a:prstGeom>
        </p:spPr>
      </p:pic>
      <p:pic>
        <p:nvPicPr>
          <p:cNvPr id="9" name="Picture 8" descr="スクリーンショット 2026-04-11 065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679" y="1627632"/>
            <a:ext cx="2401282" cy="2176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71231" y="4407408"/>
            <a:ext cx="20116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この画面で伝えたいこと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4656" y="4736592"/>
            <a:ext cx="3566160" cy="12344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要注意度は 0〜100% で直感的に表示する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判定は 5 区分で返し、白黒だけに寄せない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理由は短い箇条書きで、利用者が次の確認行動を取りやすくする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4. 分析結果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2026-04-01 の初期版から、2026-04-11 の最新 rerun で大幅に改善した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2107"/>
            <a:ext cx="6583680" cy="40818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481328"/>
            <a:ext cx="3886200" cy="461772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6096" y="1792224"/>
            <a:ext cx="150876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6096" y="1792224"/>
            <a:ext cx="1508760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63256" y="1956816"/>
            <a:ext cx="12344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3256" y="2176272"/>
            <a:ext cx="1234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0.370 -&gt; 0.840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92224"/>
            <a:ext cx="150876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35440" y="1792224"/>
            <a:ext cx="1508760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956816"/>
            <a:ext cx="12344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176272"/>
            <a:ext cx="1234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0.266 -&gt; 0.837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6096" y="2743200"/>
            <a:ext cx="150876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5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6096" y="2743200"/>
            <a:ext cx="1508760" cy="73152"/>
          </a:xfrm>
          <a:prstGeom prst="rect">
            <a:avLst/>
          </a:prstGeom>
          <a:solidFill>
            <a:srgbClr val="B5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63256" y="2907792"/>
            <a:ext cx="12344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誤り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3127248"/>
            <a:ext cx="1234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0.000 -&gt; 0.800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743200"/>
            <a:ext cx="150876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743200"/>
            <a:ext cx="1508760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907792"/>
            <a:ext cx="12344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Binary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127248"/>
            <a:ext cx="1234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0.889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6096" y="3694176"/>
            <a:ext cx="150876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6096" y="3694176"/>
            <a:ext cx="1508760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63256" y="3858768"/>
            <a:ext cx="12344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Mismatches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4078224"/>
            <a:ext cx="1234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63 -&gt; 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694176"/>
            <a:ext cx="150876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3694176"/>
            <a:ext cx="1508760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3858768"/>
            <a:ext cx="12344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All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078224"/>
            <a:ext cx="1234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100/100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4663440"/>
            <a:ext cx="3337560" cy="1051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Accuracy は 0.370 から 0.840 まで改善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誤り recall も 0.000 から 0.800 へ回復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残る課題は『ほぼ正確』境界と誤りの押し切り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4. 考察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現在の Ver2 はかなり実用的だが、境界ラベルの調整はまだ必要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71237"/>
            <a:ext cx="5303520" cy="41659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44768" y="1591056"/>
            <a:ext cx="5074920" cy="45262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主な誤判定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139696"/>
            <a:ext cx="4434840" cy="1143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ほぼ正確 -&gt; 正確: 6件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正確 -&gt; ほぼ正確: 4件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誤り -&gt; 不正確: 4件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ほぼ正確 -&gt; 不正確: 2件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代表ケース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3968496"/>
            <a:ext cx="4434840" cy="11887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正確 -&gt; ほぼ正確: ド・ドドンパ・ジェットコースターは骨折事故発生を受け、営業を終了した。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ほぼ正確 -&gt; 正確: マサチューセッツ州の有権者は、100万ドルを超える所得に対する4％の追加税…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ほぼ正確 -&gt; 不正確: 世界最高峰のエベレストの標高は8858mである。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誤り -&gt; 不正確: 5Gが新型コロナを引き起こす。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5. ビジネスインパクト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最新評価では、説明付き確認支援ツールとしてかなり使える水準に近づいた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664208"/>
            <a:ext cx="3246120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664208"/>
            <a:ext cx="3246120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2971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個人向け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48256"/>
            <a:ext cx="2971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投稿前セルフチェック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664208"/>
            <a:ext cx="3246120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664208"/>
            <a:ext cx="3246120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2971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組織向け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48256"/>
            <a:ext cx="2971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一次仕分けと優先順位付け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64208"/>
            <a:ext cx="3182112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664208"/>
            <a:ext cx="3182112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828800"/>
            <a:ext cx="290779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教育向け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048256"/>
            <a:ext cx="290779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メディアリテラシー支援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2926080"/>
            <a:ext cx="10469880" cy="274320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00400"/>
            <a:ext cx="996696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最新 rerun では Accuracy 84.0%、Binary F1 0.889 まで到達し、『全く使えない』段階は抜けた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5区分 verdict に加え、理由・確認リンク・attention score を返すので、利用者が次の確認行動を取りやすい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自治体、学校、メディア運用では『まず人が見るべき候補』を絞る補助として使える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ただし最終断定を完全自動化するには、ほぼ正確境界と誤り recall をもう一段伸ばす必要がある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6. 工夫点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評価可能な形に落とし込み、レビューしやすい運用まで整えた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1481328"/>
            <a:ext cx="5394960" cy="45262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72784" y="1481328"/>
            <a:ext cx="5212080" cy="452628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011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設計面の工夫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66543"/>
            <a:ext cx="4663440" cy="1965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真偽判定と書き振り評価を分離し、煽り表現だけで真偽を決めない設計にした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dataset_runner / evaluation / plot をつなぎ、同じ dataset で改善前後を比較できるようにした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shared testdata を repo root に集約し、Ver2 / Ver3 / Ver4 で同じデータを参照できるようにした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70832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運用面の工夫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663440"/>
            <a:ext cx="4617720" cy="914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evaluation_outputs では 5 plots を必須で出す運用にした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predictions JSON / eval JSON / plots / CSV / XLSX を同じ timestamp フォルダへまとめた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プレゼン資料もスクリプトで再生成し、最新 rerun をすぐ反映できるようにした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783080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856232"/>
            <a:ext cx="1865376" cy="1033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5392" y="2953512"/>
            <a:ext cx="1828800" cy="137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evaluation_dashboard.png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1783080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1856232"/>
            <a:ext cx="1865376" cy="10332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41664" y="2953512"/>
            <a:ext cx="1828800" cy="137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confusion_matrix.png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3401568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ummary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474720"/>
            <a:ext cx="1865376" cy="1033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65392" y="4572000"/>
            <a:ext cx="1828800" cy="137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summary_metrics.png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3401568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r_class_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3474720"/>
            <a:ext cx="1865376" cy="10332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41664" y="4572000"/>
            <a:ext cx="1828800" cy="137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per_class_metrics.png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384048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626B76"/>
                </a:solidFill>
                <a:latin typeface="Yu Gothic"/>
              </a:rPr>
              <a:t>evaluation_overview.png も同じ bundle に保存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6. 今後さらに実施してみたいこと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最新評価を踏まえると、次の焦点はかなり明確になった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1572768"/>
            <a:ext cx="5321808" cy="449884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572768"/>
            <a:ext cx="5321808" cy="4498848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モデル改善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4617720" cy="3108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誤り -&gt; 不正確 の 4 件を優先して潰し、誤り recall をもう一段引き上げる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ほぼ正確 -&gt; 正確 6 件、ほぼ正確 -&gt; 不正確 2 件を材料に、境界ルールを整理する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Ver4 を主軸に改善しつつ、安全な修正は Ver2 / Ver3 に追従させる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47088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データと運用の拡張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39696"/>
            <a:ext cx="4617720" cy="3108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CSV / XLSX を使って誤判定をケース単位で見直し、ルール修正の根拠を増やす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時事性の高いケースや SNS 投稿に近いデータを追加し、実運用に近い評価へ広げる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発表では『今できていること』と『まだできていないこと』を分けて伝える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図の説明: summary_metrics.png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全体指標はかなり改善したが、誤り recall にはまだ伸びしろがある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mma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06026"/>
            <a:ext cx="6400800" cy="42323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33488" y="1572768"/>
            <a:ext cx="3913632" cy="448056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1" y="1828800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13767A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2139696"/>
            <a:ext cx="3291840" cy="2560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Accuracy は 0.840、Macro F1 は 0.837 まで改善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Weighted F1 も 0.837 で、全体として安定してきた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Binary Precision 1.000 に対し、Binary Recall は 0.800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つまり『誤り』を出したときの精度は高いが、まだ 20% ほど取りこぼしがある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図の説明: per_class_metrics.png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クラスごとに見ると、保留と不正確は強く、ほぼ正確の回収が弱い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97261"/>
            <a:ext cx="6812280" cy="3668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572768"/>
            <a:ext cx="3611880" cy="4480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828800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13767A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2139696"/>
            <a:ext cx="2926080" cy="2606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判断保留は precision / recall / F1 がすべて 1.000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不正確は recall 1.000 で安定している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ほぼ正確は recall 0.600 で、ここが現在の弱点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誤りは recall 0.800 まで改善したが、まだ上げたい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図の説明: confusion_matrix.png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どのラベルへ流れているかを見ると、今の残課題がはっきり見える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83" y="1536192"/>
            <a:ext cx="582049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572768"/>
            <a:ext cx="4114800" cy="448056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1828800"/>
            <a:ext cx="2834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13767A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39696"/>
            <a:ext cx="3429000" cy="2606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正確 20 件のうち 16 件は正解、4 件は ほぼ正確 に落ちた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ほぼ正確 20 件のうち 6 件が 正確、2 件が 不正確 に流れた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誤り 20 件のうち 16 件は正解、4 件は 不正確 に落ちた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改善の中心は『ほぼ正確』境界と『誤り』の押し切りであることが分かる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図の説明: evaluation_overview.png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集計サマリーからも、かなり改善したことと残課題が同時に確認できる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u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97" y="1508760"/>
            <a:ext cx="3678485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572768"/>
            <a:ext cx="5440680" cy="448056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828800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13767A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39696"/>
            <a:ext cx="4709160" cy="2514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sample_count は 100、全件処理できており skipped は 0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mismatches は 16 件で、初期版 63 件から大幅に減少した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Macro Avg precision 0.849 / recall 0.840 / f1 0.837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総合性能はかなり伸びたが、mismatch 16 件をどう詰めるかが次のテーマになる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confusion_matrix.png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evaluation_outputs/20260411-0509/plots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180" y="1371600"/>
            <a:ext cx="616972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evaluation_overview.png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evaluation_outputs/20260411-0509/plots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u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15" y="1325880"/>
            <a:ext cx="4050049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per_class_metrics.png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evaluation_outputs/20260411-0509/plots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55" y="1408176"/>
            <a:ext cx="9085217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summary_metrics.png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evaluation_outputs/20260411-0509/plots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mma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936" y="1444752"/>
            <a:ext cx="732936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2026-04-11 最新評価を本編へ統合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