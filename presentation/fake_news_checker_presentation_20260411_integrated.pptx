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896112"/>
            <a:ext cx="201168" cy="4754880"/>
          </a:xfrm>
          <a:prstGeom prst="rect">
            <a:avLst/>
          </a:prstGeom>
          <a:solidFill>
            <a:srgbClr val="C96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097280"/>
            <a:ext cx="4572000" cy="3200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datamix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81328"/>
            <a:ext cx="6309360" cy="7315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生成AI・機械学習エンジニア育成講座
卒業発表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743200"/>
            <a:ext cx="6309360" cy="5486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</a:rPr>
              <a:t>フェイクニュースチェッカー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407408"/>
            <a:ext cx="566928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Yu Gothic"/>
              </a:rPr>
              <a:t>20260401 本編資料 統合版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754880"/>
            <a:ext cx="5669280" cy="3200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</a:rPr>
              <a:t>Fake News Checker / 2026年4月11日時点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559552"/>
            <a:ext cx="475488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</a:rPr>
              <a:t>2025年7月期　中村隆之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68512" y="1097280"/>
            <a:ext cx="2697480" cy="4480560"/>
          </a:xfrm>
          <a:prstGeom prst="roundRect">
            <a:avLst/>
          </a:prstGeom>
          <a:solidFill>
            <a:srgbClr val="F3EEE5"/>
          </a:solidFill>
          <a:ln w="14604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79408" y="1481328"/>
            <a:ext cx="2011680" cy="2560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626B76"/>
                </a:solidFill>
                <a:latin typeface="Yu Gothic"/>
              </a:rPr>
              <a:t>今回の更新点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7968" y="1828800"/>
            <a:ext cx="2148840" cy="315468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>
                <a:solidFill>
                  <a:srgbClr val="1F2A34"/>
                </a:solidFill>
                <a:latin typeface="Yu Gothic"/>
              </a:rPr>
              <a:t>本編の章立てを維持</a:t>
            </a:r>
          </a:p>
          <a:p>
            <a:pPr algn="l">
              <a:spcAft>
                <a:spcPts val="700"/>
              </a:spcAft>
            </a:pPr>
            <a:r>
              <a:rPr sz="1500">
                <a:solidFill>
                  <a:srgbClr val="1F2A34"/>
                </a:solidFill>
                <a:latin typeface="Yu Gothic"/>
              </a:rPr>
              <a:t>最新 Ver2 rerun を反映</a:t>
            </a:r>
          </a:p>
          <a:p>
            <a:pPr algn="l">
              <a:spcAft>
                <a:spcPts val="700"/>
              </a:spcAft>
            </a:pPr>
            <a:r>
              <a:rPr sz="1500">
                <a:solidFill>
                  <a:srgbClr val="1F2A34"/>
                </a:solidFill>
                <a:latin typeface="Yu Gothic"/>
              </a:rPr>
              <a:t>評価画像を差し替え</a:t>
            </a:r>
          </a:p>
          <a:p>
            <a:pPr algn="l">
              <a:spcAft>
                <a:spcPts val="700"/>
              </a:spcAft>
            </a:pPr>
            <a:r>
              <a:rPr sz="1500">
                <a:solidFill>
                  <a:srgbClr val="1F2A34"/>
                </a:solidFill>
                <a:latin typeface="Yu Gothic"/>
              </a:rPr>
              <a:t>改善点を再整理</a:t>
            </a:r>
          </a:p>
          <a:p>
            <a:pPr algn="l">
              <a:spcAft>
                <a:spcPts val="700"/>
              </a:spcAft>
            </a:pPr>
            <a:r>
              <a:rPr sz="1500">
                <a:solidFill>
                  <a:srgbClr val="1F2A34"/>
                </a:solidFill>
                <a:latin typeface="Yu Gothic"/>
              </a:rPr>
              <a:t>質疑向け参考図も更新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8412480" cy="4389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600" b="1">
                <a:solidFill>
                  <a:srgbClr val="1F2A34"/>
                </a:solidFill>
                <a:latin typeface="Yu Gothic"/>
              </a:rPr>
              <a:t>1. 課題と選んだ理由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95528"/>
            <a:ext cx="896112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626B76"/>
                </a:solidFill>
                <a:latin typeface="Yu Gothic"/>
              </a:rPr>
              <a:t>誤った情報に踊らされず、正確な情報へ近づく支援を作る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051560"/>
            <a:ext cx="1463040" cy="64008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389888"/>
            <a:ext cx="5349240" cy="4526280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81344" y="1389888"/>
            <a:ext cx="5349240" cy="4526280"/>
          </a:xfrm>
          <a:prstGeom prst="roundRect">
            <a:avLst/>
          </a:prstGeom>
          <a:solidFill>
            <a:srgbClr val="EAF3F1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664208"/>
            <a:ext cx="210312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000" b="1">
                <a:solidFill>
                  <a:srgbClr val="13767A"/>
                </a:solidFill>
                <a:latin typeface="Yu Gothic"/>
              </a:rPr>
              <a:t>社会的な背景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4663440" cy="329184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オールドメディアへの不信感が高まる一方で、X や YouTube など SNS の台頭により、多様な情報が大量に流通している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兵庫県知事の騒動のように、報道の偏りや受け手の分断が可視化された事例が続き、確認支援の必要性を強く感じた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戦時中にマスメディアが世論形成に大きく関与した歴史も踏まえ、情報をうのみにしない仕組みが必要だと考えた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2" y="1664208"/>
            <a:ext cx="237744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000" b="1">
                <a:solidFill>
                  <a:srgbClr val="13767A"/>
                </a:solidFill>
                <a:latin typeface="Yu Gothic"/>
              </a:rPr>
              <a:t>個人的に選んだ理由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93392"/>
            <a:ext cx="4663440" cy="32461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昔、誤った情報に騙されて痛い出費をした経験があり、真偽を自分で確かめる重要性を痛感した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強い言葉や断定調に流されず、自分の頭で確認する補助があれば被害を減らせると考えた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だからこそ、断定の代行ではなく、正確な情報へ近づくための確認支援ツールを作りたいと考えた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4983480"/>
            <a:ext cx="1417320" cy="749808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37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82512" y="4983480"/>
            <a:ext cx="1417320" cy="73152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5148072"/>
            <a:ext cx="1143000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26B76"/>
                </a:solidFill>
                <a:latin typeface="Yu Gothic"/>
              </a:rPr>
              <a:t>入力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5367528"/>
            <a:ext cx="1143000" cy="3200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F2A34"/>
                </a:solidFill>
                <a:latin typeface="Yu Gothic"/>
              </a:rPr>
              <a:t>URL / 本文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4983480"/>
            <a:ext cx="1325880" cy="749808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C96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4983480"/>
            <a:ext cx="1325880" cy="73152"/>
          </a:xfrm>
          <a:prstGeom prst="rect">
            <a:avLst/>
          </a:prstGeom>
          <a:solidFill>
            <a:srgbClr val="C96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7304" y="5148072"/>
            <a:ext cx="1051560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26B76"/>
                </a:solidFill>
                <a:latin typeface="Yu Gothic"/>
              </a:rPr>
              <a:t>出力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5367528"/>
            <a:ext cx="1051560" cy="3200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F2A34"/>
                </a:solidFill>
                <a:latin typeface="Yu Gothic"/>
              </a:rPr>
              <a:t>5区分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28048" y="4983480"/>
            <a:ext cx="1719072" cy="749808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458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528048" y="4983480"/>
            <a:ext cx="1719072" cy="73152"/>
          </a:xfrm>
          <a:prstGeom prst="rect">
            <a:avLst/>
          </a:prstGeom>
          <a:solidFill>
            <a:srgbClr val="458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5208" y="5148072"/>
            <a:ext cx="1444752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26B76"/>
                </a:solidFill>
                <a:latin typeface="Yu Gothic"/>
              </a:rPr>
              <a:t>目標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65208" y="5367528"/>
            <a:ext cx="1444752" cy="3200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F2A34"/>
                </a:solidFill>
                <a:latin typeface="Yu Gothic"/>
              </a:rPr>
              <a:t>確認支援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28232"/>
            <a:ext cx="10972800" cy="182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626B76"/>
                </a:solidFill>
                <a:latin typeface="Yu Gothic"/>
              </a:rPr>
              <a:t>Fake News Checker | 2026-04-11 最新評価を本編へ統合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8412480" cy="4389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600" b="1">
                <a:solidFill>
                  <a:srgbClr val="1F2A34"/>
                </a:solidFill>
                <a:latin typeface="Yu Gothic"/>
              </a:rPr>
              <a:t>2. 使用したデータについて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95528"/>
            <a:ext cx="896112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626B76"/>
                </a:solidFill>
                <a:latin typeface="Yu Gothic"/>
              </a:rPr>
              <a:t>balanced 100件の real_article_dataset_v2 を使って最新 Ver2 を評価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051560"/>
            <a:ext cx="1463040" cy="64008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3200400" cy="2743200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069080" y="1481328"/>
            <a:ext cx="2880360" cy="2743200"/>
          </a:xfrm>
          <a:prstGeom prst="roundRect">
            <a:avLst/>
          </a:prstGeom>
          <a:solidFill>
            <a:srgbClr val="EAF3F1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59752" y="1481328"/>
            <a:ext cx="4352544" cy="2743200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55648"/>
            <a:ext cx="210312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800" b="1">
                <a:solidFill>
                  <a:srgbClr val="13767A"/>
                </a:solidFill>
                <a:latin typeface="Yu Gothic"/>
              </a:rPr>
              <a:t>dataset の概要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48256"/>
            <a:ext cx="2697480" cy="178308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>
                <a:solidFill>
                  <a:srgbClr val="1F2A34"/>
                </a:solidFill>
                <a:latin typeface="Yu Gothic"/>
              </a:rPr>
              <a:t>ファイル: real_article_dataset_v2.json</a:t>
            </a:r>
          </a:p>
          <a:p>
            <a:pPr algn="l">
              <a:spcAft>
                <a:spcPts val="700"/>
              </a:spcAft>
            </a:pPr>
            <a:r>
              <a:rPr sz="1600">
                <a:solidFill>
                  <a:srgbClr val="1F2A34"/>
                </a:solidFill>
                <a:latin typeface="Yu Gothic"/>
              </a:rPr>
              <a:t>件数: 100</a:t>
            </a:r>
          </a:p>
          <a:p>
            <a:pPr algn="l">
              <a:spcAft>
                <a:spcPts val="700"/>
              </a:spcAft>
            </a:pPr>
            <a:r>
              <a:rPr sz="1600">
                <a:solidFill>
                  <a:srgbClr val="1F2A34"/>
                </a:solidFill>
                <a:latin typeface="Yu Gothic"/>
              </a:rPr>
              <a:t>curated_on: 2026-04-08</a:t>
            </a:r>
          </a:p>
          <a:p>
            <a:pPr algn="l">
              <a:spcAft>
                <a:spcPts val="700"/>
              </a:spcAft>
            </a:pPr>
            <a:r>
              <a:rPr sz="1600">
                <a:solidFill>
                  <a:srgbClr val="1F2A34"/>
                </a:solidFill>
                <a:latin typeface="Yu Gothic"/>
              </a:rPr>
              <a:t>5区分は各20件で balanced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755648"/>
            <a:ext cx="18288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800" b="1">
                <a:solidFill>
                  <a:srgbClr val="13767A"/>
                </a:solidFill>
                <a:latin typeface="Yu Gothic"/>
              </a:rPr>
              <a:t>スキーマ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79392" y="2048256"/>
            <a:ext cx="2194560" cy="178308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>
                <a:solidFill>
                  <a:srgbClr val="1F2A34"/>
                </a:solidFill>
                <a:latin typeface="Yu Gothic"/>
              </a:rPr>
              <a:t>`id`</a:t>
            </a:r>
          </a:p>
          <a:p>
            <a:pPr algn="l">
              <a:spcAft>
                <a:spcPts val="700"/>
              </a:spcAft>
            </a:pPr>
            <a:r>
              <a:rPr sz="1600">
                <a:solidFill>
                  <a:srgbClr val="1F2A34"/>
                </a:solidFill>
                <a:latin typeface="Yu Gothic"/>
              </a:rPr>
              <a:t>`expected_verdict`</a:t>
            </a:r>
          </a:p>
          <a:p>
            <a:pPr algn="l">
              <a:spcAft>
                <a:spcPts val="700"/>
              </a:spcAft>
            </a:pPr>
            <a:r>
              <a:rPr sz="1600">
                <a:solidFill>
                  <a:srgbClr val="1F2A34"/>
                </a:solidFill>
                <a:latin typeface="Yu Gothic"/>
              </a:rPr>
              <a:t>`analysis_text`</a:t>
            </a:r>
          </a:p>
          <a:p>
            <a:pPr algn="l">
              <a:spcAft>
                <a:spcPts val="700"/>
              </a:spcAft>
            </a:pPr>
            <a:r>
              <a:rPr sz="1600">
                <a:solidFill>
                  <a:srgbClr val="1F2A34"/>
                </a:solidFill>
                <a:latin typeface="Yu Gothic"/>
              </a:rPr>
              <a:t>`expected_domain`</a:t>
            </a:r>
          </a:p>
          <a:p>
            <a:pPr algn="l">
              <a:spcAft>
                <a:spcPts val="700"/>
              </a:spcAft>
            </a:pPr>
            <a:r>
              <a:rPr sz="1600">
                <a:solidFill>
                  <a:srgbClr val="1F2A34"/>
                </a:solidFill>
                <a:latin typeface="Yu Gothic"/>
              </a:rPr>
              <a:t>`analysis_mode`</a:t>
            </a:r>
          </a:p>
          <a:p>
            <a:pPr algn="l">
              <a:spcAft>
                <a:spcPts val="700"/>
              </a:spcAft>
            </a:pPr>
            <a:r>
              <a:rPr sz="1600">
                <a:solidFill>
                  <a:srgbClr val="1F2A34"/>
                </a:solidFill>
                <a:latin typeface="Yu Gothic"/>
              </a:rPr>
              <a:t>`claim_text`</a:t>
            </a:r>
          </a:p>
          <a:p>
            <a:pPr algn="l">
              <a:spcAft>
                <a:spcPts val="700"/>
              </a:spcAft>
            </a:pPr>
            <a:r>
              <a:rPr sz="1600">
                <a:solidFill>
                  <a:srgbClr val="1F2A34"/>
                </a:solidFill>
                <a:latin typeface="Yu Gothic"/>
              </a:rPr>
              <a:t>`review_focus`</a:t>
            </a:r>
          </a:p>
          <a:p>
            <a:pPr algn="l">
              <a:spcAft>
                <a:spcPts val="700"/>
              </a:spcAft>
            </a:pPr>
            <a:r>
              <a:rPr sz="1600">
                <a:solidFill>
                  <a:srgbClr val="1F2A34"/>
                </a:solidFill>
                <a:latin typeface="Yu Gothic"/>
              </a:rPr>
              <a:t>`human_note`</a:t>
            </a:r>
          </a:p>
          <a:p>
            <a:pPr algn="l">
              <a:spcAft>
                <a:spcPts val="700"/>
              </a:spcAft>
            </a:pPr>
            <a:r>
              <a:rPr sz="1600">
                <a:solidFill>
                  <a:srgbClr val="1F2A34"/>
                </a:solidFill>
                <a:latin typeface="Yu Gothic"/>
              </a:rPr>
              <a:t>`contested_span`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1755648"/>
            <a:ext cx="18288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800" b="1">
                <a:solidFill>
                  <a:srgbClr val="13767A"/>
                </a:solidFill>
                <a:latin typeface="Yu Gothic"/>
              </a:rPr>
              <a:t>ドメイン分布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0064" y="2048256"/>
            <a:ext cx="3657600" cy="178308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>
                <a:solidFill>
                  <a:srgbClr val="1F2A34"/>
                </a:solidFill>
                <a:latin typeface="Yu Gothic"/>
              </a:rPr>
              <a:t>一般: 75</a:t>
            </a:r>
          </a:p>
          <a:p>
            <a:pPr algn="l">
              <a:spcAft>
                <a:spcPts val="700"/>
              </a:spcAft>
            </a:pPr>
            <a:r>
              <a:rPr sz="1600">
                <a:solidFill>
                  <a:srgbClr val="1F2A34"/>
                </a:solidFill>
                <a:latin typeface="Yu Gothic"/>
              </a:rPr>
              <a:t>医療: 5</a:t>
            </a:r>
          </a:p>
          <a:p>
            <a:pPr algn="l">
              <a:spcAft>
                <a:spcPts val="700"/>
              </a:spcAft>
            </a:pPr>
            <a:r>
              <a:rPr sz="1600">
                <a:solidFill>
                  <a:srgbClr val="1F2A34"/>
                </a:solidFill>
                <a:latin typeface="Yu Gothic"/>
              </a:rPr>
              <a:t>金融: 2</a:t>
            </a:r>
          </a:p>
          <a:p>
            <a:pPr algn="l">
              <a:spcAft>
                <a:spcPts val="700"/>
              </a:spcAft>
            </a:pPr>
            <a:r>
              <a:rPr sz="1600">
                <a:solidFill>
                  <a:srgbClr val="1F2A34"/>
                </a:solidFill>
                <a:latin typeface="Yu Gothic"/>
              </a:rPr>
              <a:t>災害: 2</a:t>
            </a:r>
          </a:p>
          <a:p>
            <a:pPr algn="l">
              <a:spcAft>
                <a:spcPts val="700"/>
              </a:spcAft>
            </a:pPr>
            <a:r>
              <a:rPr sz="1600">
                <a:solidFill>
                  <a:srgbClr val="1F2A34"/>
                </a:solidFill>
                <a:latin typeface="Yu Gothic"/>
              </a:rPr>
              <a:t>政治: 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" y="4526280"/>
            <a:ext cx="10808208" cy="1051560"/>
          </a:xfrm>
          <a:prstGeom prst="roundRect">
            <a:avLst/>
          </a:prstGeom>
          <a:solidFill>
            <a:srgbClr val="F3EEE5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736592"/>
            <a:ext cx="10332720" cy="54864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評価対象は記事全文ではなく analysis_text に要約した中心命題で、expected_verdict と predicted_verdict を直接比較できるようにしている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28232"/>
            <a:ext cx="10972800" cy="182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626B76"/>
                </a:solidFill>
                <a:latin typeface="Yu Gothic"/>
              </a:rPr>
              <a:t>Fake News Checker | 2026-04-11 最新評価を本編へ統合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8412480" cy="4389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600" b="1">
                <a:solidFill>
                  <a:srgbClr val="1F2A34"/>
                </a:solidFill>
                <a:latin typeface="Yu Gothic"/>
              </a:rPr>
              <a:t>3. 初期仮説・分析アプローチ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95528"/>
            <a:ext cx="896112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626B76"/>
                </a:solidFill>
                <a:latin typeface="Yu Gothic"/>
              </a:rPr>
              <a:t>ローカル一次判定と Gemini の外部根拠比較を組み合わせれば、境界ケースを改善できると考えた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051560"/>
            <a:ext cx="1463040" cy="64008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76656" y="1444752"/>
            <a:ext cx="10826496" cy="1664208"/>
          </a:xfrm>
          <a:prstGeom prst="roundRect">
            <a:avLst/>
          </a:prstGeom>
          <a:solidFill>
            <a:srgbClr val="F3EEE5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37360"/>
            <a:ext cx="10287000" cy="100584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仮説1: 出典の有無、著者、日付、リンク数、表現の強さなどのヒューリスティックで危険度の目安は作れる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仮説2: 境界ケースは Gemini の google_search と url_context を使った外部根拠比較を加えることで改善できる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仮説3: 書き振り評価は真偽判定と分離した方が、煽り表現だけで誤判定するリスクを下げられる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794760"/>
            <a:ext cx="1828800" cy="1261872"/>
          </a:xfrm>
          <a:prstGeom prst="roundRect">
            <a:avLst/>
          </a:prstGeom>
          <a:solidFill>
            <a:srgbClr val="13767A"/>
          </a:solidFill>
          <a:ln w="14604">
            <a:solidFill>
              <a:srgbClr val="137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904488"/>
            <a:ext cx="1609344" cy="2286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</a:rPr>
              <a:t>入力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78808"/>
            <a:ext cx="1609344" cy="758952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Yu Gothic"/>
              </a:rPr>
              <a:t>URL または本文</a:t>
            </a:r>
          </a:p>
        </p:txBody>
      </p:sp>
      <p:sp>
        <p:nvSpPr>
          <p:cNvPr id="10" name="Chevron 9"/>
          <p:cNvSpPr/>
          <p:nvPr/>
        </p:nvSpPr>
        <p:spPr>
          <a:xfrm>
            <a:off x="2651760" y="4215384"/>
            <a:ext cx="320040" cy="310896"/>
          </a:xfrm>
          <a:prstGeom prst="chevron">
            <a:avLst/>
          </a:prstGeom>
          <a:solidFill>
            <a:srgbClr val="D9D3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07792" y="3794760"/>
            <a:ext cx="1828800" cy="1261872"/>
          </a:xfrm>
          <a:prstGeom prst="roundRect">
            <a:avLst/>
          </a:prstGeom>
          <a:solidFill>
            <a:srgbClr val="C96D31"/>
          </a:solidFill>
          <a:ln w="14604">
            <a:solidFill>
              <a:srgbClr val="C96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3904488"/>
            <a:ext cx="1609344" cy="2286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</a:rPr>
              <a:t>ローカル一次判定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4178808"/>
            <a:ext cx="1609344" cy="758952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Yu Gothic"/>
              </a:rPr>
              <a:t>risk / confidence / domain を推定</a:t>
            </a:r>
          </a:p>
        </p:txBody>
      </p:sp>
      <p:sp>
        <p:nvSpPr>
          <p:cNvPr id="14" name="Chevron 13"/>
          <p:cNvSpPr/>
          <p:nvPr/>
        </p:nvSpPr>
        <p:spPr>
          <a:xfrm>
            <a:off x="4846320" y="4215384"/>
            <a:ext cx="320040" cy="310896"/>
          </a:xfrm>
          <a:prstGeom prst="chevron">
            <a:avLst/>
          </a:prstGeom>
          <a:solidFill>
            <a:srgbClr val="D9D3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02352" y="3794760"/>
            <a:ext cx="1828800" cy="1261872"/>
          </a:xfrm>
          <a:prstGeom prst="roundRect">
            <a:avLst/>
          </a:prstGeom>
          <a:solidFill>
            <a:srgbClr val="458E5F"/>
          </a:solidFill>
          <a:ln w="14604">
            <a:solidFill>
              <a:srgbClr val="458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0" y="3904488"/>
            <a:ext cx="1609344" cy="2286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</a:rPr>
              <a:t>Gemini 比較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178808"/>
            <a:ext cx="1609344" cy="758952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Yu Gothic"/>
              </a:rPr>
              <a:t>外部根拠と反証を照合</a:t>
            </a:r>
          </a:p>
        </p:txBody>
      </p:sp>
      <p:sp>
        <p:nvSpPr>
          <p:cNvPr id="18" name="Chevron 17"/>
          <p:cNvSpPr/>
          <p:nvPr/>
        </p:nvSpPr>
        <p:spPr>
          <a:xfrm>
            <a:off x="7040880" y="4215384"/>
            <a:ext cx="320040" cy="310896"/>
          </a:xfrm>
          <a:prstGeom prst="chevron">
            <a:avLst/>
          </a:prstGeom>
          <a:solidFill>
            <a:srgbClr val="D9D3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296912" y="3794760"/>
            <a:ext cx="1828800" cy="1261872"/>
          </a:xfrm>
          <a:prstGeom prst="roundRect">
            <a:avLst/>
          </a:prstGeom>
          <a:solidFill>
            <a:srgbClr val="C96D31"/>
          </a:solidFill>
          <a:ln w="14604">
            <a:solidFill>
              <a:srgbClr val="C96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904488"/>
            <a:ext cx="1609344" cy="2286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</a:rPr>
              <a:t>書き振り評価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4178808"/>
            <a:ext cx="1609344" cy="758952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Yu Gothic"/>
              </a:rPr>
              <a:t>煽りや断定を別軸で評価</a:t>
            </a:r>
          </a:p>
        </p:txBody>
      </p:sp>
      <p:sp>
        <p:nvSpPr>
          <p:cNvPr id="22" name="Chevron 21"/>
          <p:cNvSpPr/>
          <p:nvPr/>
        </p:nvSpPr>
        <p:spPr>
          <a:xfrm>
            <a:off x="9235440" y="4215384"/>
            <a:ext cx="320040" cy="310896"/>
          </a:xfrm>
          <a:prstGeom prst="chevron">
            <a:avLst/>
          </a:prstGeom>
          <a:solidFill>
            <a:srgbClr val="D9D3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491472" y="3794760"/>
            <a:ext cx="1828800" cy="1261872"/>
          </a:xfrm>
          <a:prstGeom prst="roundRect">
            <a:avLst/>
          </a:prstGeom>
          <a:solidFill>
            <a:srgbClr val="B53D3D"/>
          </a:solidFill>
          <a:ln w="14604">
            <a:solidFill>
              <a:srgbClr val="B53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3904488"/>
            <a:ext cx="1609344" cy="22860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</a:rPr>
              <a:t>出力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4178808"/>
            <a:ext cx="1609344" cy="758952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Yu Gothic"/>
              </a:rPr>
              <a:t>5区分・理由・確認リンク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428232"/>
            <a:ext cx="10972800" cy="182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626B76"/>
                </a:solidFill>
                <a:latin typeface="Yu Gothic"/>
              </a:rPr>
              <a:t>Fake News Checker | 2026-04-11 最新評価を本編へ統合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8412480" cy="4389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600" b="1">
                <a:solidFill>
                  <a:srgbClr val="1F2A34"/>
                </a:solidFill>
                <a:latin typeface="Yu Gothic"/>
              </a:rPr>
              <a:t>4. 分析結果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95528"/>
            <a:ext cx="896112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626B76"/>
                </a:solidFill>
                <a:latin typeface="Yu Gothic"/>
              </a:rPr>
              <a:t>2026-04-01 の初期版から、2026-04-11 の最新 rerun で大幅に改善した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051560"/>
            <a:ext cx="1463040" cy="64008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alua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72107"/>
            <a:ext cx="6583680" cy="408188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06640" y="1481328"/>
            <a:ext cx="3886200" cy="4617720"/>
          </a:xfrm>
          <a:prstGeom prst="roundRect">
            <a:avLst/>
          </a:prstGeom>
          <a:solidFill>
            <a:srgbClr val="F3EEE5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26096" y="1792224"/>
            <a:ext cx="1508760" cy="749808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37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6096" y="1792224"/>
            <a:ext cx="1508760" cy="73152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63256" y="1956816"/>
            <a:ext cx="1234440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26B76"/>
                </a:solidFill>
                <a:latin typeface="Yu Gothic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63256" y="2176272"/>
            <a:ext cx="1234440" cy="3200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F2A34"/>
                </a:solidFill>
                <a:latin typeface="Yu Gothic"/>
              </a:rPr>
              <a:t>0.370 -&gt; 0.840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792224"/>
            <a:ext cx="1508760" cy="749808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C96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235440" y="1792224"/>
            <a:ext cx="1508760" cy="73152"/>
          </a:xfrm>
          <a:prstGeom prst="rect">
            <a:avLst/>
          </a:prstGeom>
          <a:solidFill>
            <a:srgbClr val="C96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1956816"/>
            <a:ext cx="1234440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26B76"/>
                </a:solidFill>
                <a:latin typeface="Yu Gothic"/>
              </a:rPr>
              <a:t>Macro F1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2176272"/>
            <a:ext cx="1234440" cy="3200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F2A34"/>
                </a:solidFill>
                <a:latin typeface="Yu Gothic"/>
              </a:rPr>
              <a:t>0.266 -&gt; 0.837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6096" y="2743200"/>
            <a:ext cx="1508760" cy="749808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B53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26096" y="2743200"/>
            <a:ext cx="1508760" cy="73152"/>
          </a:xfrm>
          <a:prstGeom prst="rect">
            <a:avLst/>
          </a:prstGeom>
          <a:solidFill>
            <a:srgbClr val="B5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63256" y="2907792"/>
            <a:ext cx="1234440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26B76"/>
                </a:solidFill>
                <a:latin typeface="Yu Gothic"/>
              </a:rPr>
              <a:t>誤り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63256" y="3127248"/>
            <a:ext cx="1234440" cy="3200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F2A34"/>
                </a:solidFill>
                <a:latin typeface="Yu Gothic"/>
              </a:rPr>
              <a:t>0.000 -&gt; 0.800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743200"/>
            <a:ext cx="1508760" cy="749808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458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2743200"/>
            <a:ext cx="1508760" cy="73152"/>
          </a:xfrm>
          <a:prstGeom prst="rect">
            <a:avLst/>
          </a:prstGeom>
          <a:solidFill>
            <a:srgbClr val="458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2600" y="2907792"/>
            <a:ext cx="1234440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26B76"/>
                </a:solidFill>
                <a:latin typeface="Yu Gothic"/>
              </a:rPr>
              <a:t>Binary F1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3127248"/>
            <a:ext cx="1234440" cy="3200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F2A34"/>
                </a:solidFill>
                <a:latin typeface="Yu Gothic"/>
              </a:rPr>
              <a:t>0.889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26096" y="3694176"/>
            <a:ext cx="1508760" cy="749808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37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6096" y="3694176"/>
            <a:ext cx="1508760" cy="73152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3858768"/>
            <a:ext cx="1234440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26B76"/>
                </a:solidFill>
                <a:latin typeface="Yu Gothic"/>
              </a:rPr>
              <a:t>Mismatches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3256" y="4078224"/>
            <a:ext cx="1234440" cy="3200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F2A34"/>
                </a:solidFill>
                <a:latin typeface="Yu Gothic"/>
              </a:rPr>
              <a:t>63 -&gt; 16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35440" y="3694176"/>
            <a:ext cx="1508760" cy="749808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C96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35440" y="3694176"/>
            <a:ext cx="1508760" cy="73152"/>
          </a:xfrm>
          <a:prstGeom prst="rect">
            <a:avLst/>
          </a:prstGeom>
          <a:solidFill>
            <a:srgbClr val="C96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72600" y="3858768"/>
            <a:ext cx="1234440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26B76"/>
                </a:solidFill>
                <a:latin typeface="Yu Gothic"/>
              </a:rPr>
              <a:t>All cases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2600" y="4078224"/>
            <a:ext cx="1234440" cy="3200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F2A34"/>
                </a:solidFill>
                <a:latin typeface="Yu Gothic"/>
              </a:rPr>
              <a:t>100/100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71231" y="4663440"/>
            <a:ext cx="3337560" cy="105156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>
                <a:solidFill>
                  <a:srgbClr val="1F2A34"/>
                </a:solidFill>
                <a:latin typeface="Yu Gothic"/>
              </a:rPr>
              <a:t>Accuracy は 0.370 から 0.840 まで改善</a:t>
            </a:r>
          </a:p>
          <a:p>
            <a:pPr algn="l">
              <a:spcAft>
                <a:spcPts val="700"/>
              </a:spcAft>
            </a:pPr>
            <a:r>
              <a:rPr sz="1500">
                <a:solidFill>
                  <a:srgbClr val="1F2A34"/>
                </a:solidFill>
                <a:latin typeface="Yu Gothic"/>
              </a:rPr>
              <a:t>誤り recall も 0.000 から 0.800 へ回復</a:t>
            </a:r>
          </a:p>
          <a:p>
            <a:pPr algn="l">
              <a:spcAft>
                <a:spcPts val="700"/>
              </a:spcAft>
            </a:pPr>
            <a:r>
              <a:rPr sz="1500">
                <a:solidFill>
                  <a:srgbClr val="1F2A34"/>
                </a:solidFill>
                <a:latin typeface="Yu Gothic"/>
              </a:rPr>
              <a:t>残る課題は『ほぼ正確』境界と誤りの押し切り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28232"/>
            <a:ext cx="10972800" cy="182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626B76"/>
                </a:solidFill>
                <a:latin typeface="Yu Gothic"/>
              </a:rPr>
              <a:t>Fake News Checker | 2026-04-11 最新評価を本編へ統合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8412480" cy="4389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600" b="1">
                <a:solidFill>
                  <a:srgbClr val="1F2A34"/>
                </a:solidFill>
                <a:latin typeface="Yu Gothic"/>
              </a:rPr>
              <a:t>4. 考察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95528"/>
            <a:ext cx="896112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626B76"/>
                </a:solidFill>
                <a:latin typeface="Yu Gothic"/>
              </a:rPr>
              <a:t>現在の Ver2 はかなり実用的だが、境界ラベルの調整はまだ必要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051560"/>
            <a:ext cx="1463040" cy="64008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71237"/>
            <a:ext cx="5303520" cy="416591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44768" y="1591056"/>
            <a:ext cx="5074920" cy="4526280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256032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000" b="1">
                <a:solidFill>
                  <a:srgbClr val="C96D31"/>
                </a:solidFill>
                <a:latin typeface="Yu Gothic"/>
              </a:rPr>
              <a:t>主な誤判定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4224" y="2139696"/>
            <a:ext cx="4434840" cy="114300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ほぼ正確 -&gt; 正確: 6件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正確 -&gt; ほぼ正確: 4件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誤り -&gt; 不正確: 4件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ほぼ正確 -&gt; 不正確: 2件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657600"/>
            <a:ext cx="256032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000" b="1">
                <a:solidFill>
                  <a:srgbClr val="13767A"/>
                </a:solidFill>
                <a:latin typeface="Yu Gothic"/>
              </a:rPr>
              <a:t>代表ケース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4224" y="3968496"/>
            <a:ext cx="4434840" cy="11887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>
                <a:solidFill>
                  <a:srgbClr val="1F2A34"/>
                </a:solidFill>
                <a:latin typeface="Yu Gothic"/>
              </a:rPr>
              <a:t>正確 -&gt; ほぼ正確: ド・ドドンパ・ジェットコースターは骨折事故発生を受け、営業を終了した。</a:t>
            </a:r>
          </a:p>
          <a:p>
            <a:pPr algn="l">
              <a:spcAft>
                <a:spcPts val="700"/>
              </a:spcAft>
            </a:pPr>
            <a:r>
              <a:rPr sz="1500">
                <a:solidFill>
                  <a:srgbClr val="1F2A34"/>
                </a:solidFill>
                <a:latin typeface="Yu Gothic"/>
              </a:rPr>
              <a:t>ほぼ正確 -&gt; 正確: マサチューセッツ州の有権者は、100万ドルを超える所得に対する4％の追加税…</a:t>
            </a:r>
          </a:p>
          <a:p>
            <a:pPr algn="l">
              <a:spcAft>
                <a:spcPts val="700"/>
              </a:spcAft>
            </a:pPr>
            <a:r>
              <a:rPr sz="1500">
                <a:solidFill>
                  <a:srgbClr val="1F2A34"/>
                </a:solidFill>
                <a:latin typeface="Yu Gothic"/>
              </a:rPr>
              <a:t>ほぼ正確 -&gt; 不正確: 世界最高峰のエベレストの標高は8858mである。</a:t>
            </a:r>
          </a:p>
          <a:p>
            <a:pPr algn="l">
              <a:spcAft>
                <a:spcPts val="700"/>
              </a:spcAft>
            </a:pPr>
            <a:r>
              <a:rPr sz="1500">
                <a:solidFill>
                  <a:srgbClr val="1F2A34"/>
                </a:solidFill>
                <a:latin typeface="Yu Gothic"/>
              </a:rPr>
              <a:t>誤り -&gt; 不正確: 5Gが新型コロナを引き起こす。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28232"/>
            <a:ext cx="10972800" cy="182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626B76"/>
                </a:solidFill>
                <a:latin typeface="Yu Gothic"/>
              </a:rPr>
              <a:t>Fake News Checker | 2026-04-11 最新評価を本編へ統合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8412480" cy="4389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600" b="1">
                <a:solidFill>
                  <a:srgbClr val="1F2A34"/>
                </a:solidFill>
                <a:latin typeface="Yu Gothic"/>
              </a:rPr>
              <a:t>5. ビジネスインパクト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95528"/>
            <a:ext cx="896112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626B76"/>
                </a:solidFill>
                <a:latin typeface="Yu Gothic"/>
              </a:rPr>
              <a:t>最新評価では、説明付き確認支援ツールとしてかなり使える水準に近づいた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051560"/>
            <a:ext cx="1463040" cy="64008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4672" y="1664208"/>
            <a:ext cx="3246120" cy="932688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37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4672" y="1664208"/>
            <a:ext cx="3246120" cy="73152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828800"/>
            <a:ext cx="2971800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26B76"/>
                </a:solidFill>
                <a:latin typeface="Yu Gothic"/>
              </a:rPr>
              <a:t>個人向け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048256"/>
            <a:ext cx="2971800" cy="3200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F2A34"/>
                </a:solidFill>
                <a:latin typeface="Yu Gothic"/>
              </a:rPr>
              <a:t>投稿前セルフチェック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2272" y="1664208"/>
            <a:ext cx="3246120" cy="932688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C96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62272" y="1664208"/>
            <a:ext cx="3246120" cy="73152"/>
          </a:xfrm>
          <a:prstGeom prst="rect">
            <a:avLst/>
          </a:prstGeom>
          <a:solidFill>
            <a:srgbClr val="C96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828800"/>
            <a:ext cx="2971800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26B76"/>
                </a:solidFill>
                <a:latin typeface="Yu Gothic"/>
              </a:rPr>
              <a:t>組織向け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2048256"/>
            <a:ext cx="2971800" cy="3200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F2A34"/>
                </a:solidFill>
                <a:latin typeface="Yu Gothic"/>
              </a:rPr>
              <a:t>一次仕分けと優先順位付け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664208"/>
            <a:ext cx="3182112" cy="932688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458E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9872" y="1664208"/>
            <a:ext cx="3182112" cy="73152"/>
          </a:xfrm>
          <a:prstGeom prst="rect">
            <a:avLst/>
          </a:prstGeom>
          <a:solidFill>
            <a:srgbClr val="458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2" y="1828800"/>
            <a:ext cx="2907792" cy="20116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26B76"/>
                </a:solidFill>
                <a:latin typeface="Yu Gothic"/>
              </a:rPr>
              <a:t>教育向け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2" y="2048256"/>
            <a:ext cx="2907792" cy="32004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F2A34"/>
                </a:solidFill>
                <a:latin typeface="Yu Gothic"/>
              </a:rPr>
              <a:t>メディアリテラシー支援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" y="2926080"/>
            <a:ext cx="10469880" cy="2743200"/>
          </a:xfrm>
          <a:prstGeom prst="roundRect">
            <a:avLst/>
          </a:prstGeom>
          <a:solidFill>
            <a:srgbClr val="F3EEE5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200400"/>
            <a:ext cx="9966960" cy="201168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800">
                <a:solidFill>
                  <a:srgbClr val="1F2A34"/>
                </a:solidFill>
                <a:latin typeface="Yu Gothic"/>
              </a:rPr>
              <a:t>最新 rerun では Accuracy 84.0%、Binary F1 0.889 まで到達し、『全く使えない』段階は抜けた</a:t>
            </a:r>
          </a:p>
          <a:p>
            <a:pPr algn="l">
              <a:spcAft>
                <a:spcPts val="700"/>
              </a:spcAft>
            </a:pPr>
            <a:r>
              <a:rPr sz="1800">
                <a:solidFill>
                  <a:srgbClr val="1F2A34"/>
                </a:solidFill>
                <a:latin typeface="Yu Gothic"/>
              </a:rPr>
              <a:t>5区分 verdict に加え、理由・確認リンク・attention score を返すので、利用者が次の確認行動を取りやすい</a:t>
            </a:r>
          </a:p>
          <a:p>
            <a:pPr algn="l">
              <a:spcAft>
                <a:spcPts val="700"/>
              </a:spcAft>
            </a:pPr>
            <a:r>
              <a:rPr sz="1800">
                <a:solidFill>
                  <a:srgbClr val="1F2A34"/>
                </a:solidFill>
                <a:latin typeface="Yu Gothic"/>
              </a:rPr>
              <a:t>自治体、学校、メディア運用では『まず人が見るべき候補』を絞る補助として使える</a:t>
            </a:r>
          </a:p>
          <a:p>
            <a:pPr algn="l">
              <a:spcAft>
                <a:spcPts val="700"/>
              </a:spcAft>
            </a:pPr>
            <a:r>
              <a:rPr sz="1800">
                <a:solidFill>
                  <a:srgbClr val="1F2A34"/>
                </a:solidFill>
                <a:latin typeface="Yu Gothic"/>
              </a:rPr>
              <a:t>ただし最終断定を完全自動化するには、ほぼ正確境界と誤り recall をもう一段伸ばす必要がある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428232"/>
            <a:ext cx="10972800" cy="182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626B76"/>
                </a:solidFill>
                <a:latin typeface="Yu Gothic"/>
              </a:rPr>
              <a:t>Fake News Checker | 2026-04-11 最新評価を本編へ統合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8412480" cy="4389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600" b="1">
                <a:solidFill>
                  <a:srgbClr val="1F2A34"/>
                </a:solidFill>
                <a:latin typeface="Yu Gothic"/>
              </a:rPr>
              <a:t>6. 工夫点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95528"/>
            <a:ext cx="896112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626B76"/>
                </a:solidFill>
                <a:latin typeface="Yu Gothic"/>
              </a:rPr>
              <a:t>評価可能な形に落とし込み、レビューしやすい運用まで整えた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051560"/>
            <a:ext cx="1463040" cy="64008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76656" y="1481328"/>
            <a:ext cx="5394960" cy="4526280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72784" y="1481328"/>
            <a:ext cx="5212080" cy="4526280"/>
          </a:xfrm>
          <a:prstGeom prst="roundRect">
            <a:avLst/>
          </a:prstGeom>
          <a:solidFill>
            <a:srgbClr val="EAF3F1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201168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000" b="1">
                <a:solidFill>
                  <a:srgbClr val="13767A"/>
                </a:solidFill>
                <a:latin typeface="Yu Gothic"/>
              </a:rPr>
              <a:t>設計面の工夫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066543"/>
            <a:ext cx="4663440" cy="196596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真偽判定と書き振り評価を分離し、煽り表現だけで真偽を決めない設計にした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dataset_runner / evaluation / plot をつなぎ、同じ dataset で改善前後を比較できるようにした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shared testdata を repo root に集約し、Ver2 / Ver3 / Ver4 で同じデータを参照できるようにした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70832"/>
            <a:ext cx="256032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000" b="1">
                <a:solidFill>
                  <a:srgbClr val="C96D31"/>
                </a:solidFill>
                <a:latin typeface="Yu Gothic"/>
              </a:rPr>
              <a:t>運用面の工夫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4663440"/>
            <a:ext cx="4617720" cy="91440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evaluation_outputs では 5 plots を必須で出す運用にした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predictions JSON / eval JSON / plots / CSV / XLSX を同じ timestamp フォルダへまとめた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プレゼン資料もスクリプトで再生成し、最新 rerun をすぐ反映できるようにした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73952" y="1783080"/>
            <a:ext cx="2011680" cy="1417320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valua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1856232"/>
            <a:ext cx="1865376" cy="1033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65392" y="2953512"/>
            <a:ext cx="1828800" cy="1371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000" b="1">
                <a:solidFill>
                  <a:srgbClr val="626B76"/>
                </a:solidFill>
                <a:latin typeface="Yu Gothic"/>
              </a:rPr>
              <a:t>evaluation_dashboard.png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50224" y="1783080"/>
            <a:ext cx="2011680" cy="1417320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3376" y="1856232"/>
            <a:ext cx="1865376" cy="10332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41664" y="2953512"/>
            <a:ext cx="1828800" cy="1371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000" b="1">
                <a:solidFill>
                  <a:srgbClr val="626B76"/>
                </a:solidFill>
                <a:latin typeface="Yu Gothic"/>
              </a:rPr>
              <a:t>confusion_matrix.png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73952" y="3401568"/>
            <a:ext cx="2011680" cy="1417320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ummary_metri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7104" y="3474720"/>
            <a:ext cx="1865376" cy="10332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65392" y="4572000"/>
            <a:ext cx="1828800" cy="1371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000" b="1">
                <a:solidFill>
                  <a:srgbClr val="626B76"/>
                </a:solidFill>
                <a:latin typeface="Yu Gothic"/>
              </a:rPr>
              <a:t>summary_metrics.png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50224" y="3401568"/>
            <a:ext cx="2011680" cy="1417320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er_class_metri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3376" y="3474720"/>
            <a:ext cx="1865376" cy="10332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741664" y="4572000"/>
            <a:ext cx="1828800" cy="13716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ctr"/>
            <a:r>
              <a:rPr sz="1000" b="1">
                <a:solidFill>
                  <a:srgbClr val="626B76"/>
                </a:solidFill>
                <a:latin typeface="Yu Gothic"/>
              </a:rPr>
              <a:t>per_class_metrics.png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29200"/>
            <a:ext cx="3840480" cy="237744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626B76"/>
                </a:solidFill>
                <a:latin typeface="Yu Gothic"/>
              </a:rPr>
              <a:t>evaluation_overview.png も同じ bundle に保存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428232"/>
            <a:ext cx="10972800" cy="182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626B76"/>
                </a:solidFill>
                <a:latin typeface="Yu Gothic"/>
              </a:rPr>
              <a:t>Fake News Checker | 2026-04-11 最新評価を本編へ統合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8412480" cy="4389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600" b="1">
                <a:solidFill>
                  <a:srgbClr val="1F2A34"/>
                </a:solidFill>
                <a:latin typeface="Yu Gothic"/>
              </a:rPr>
              <a:t>6. 今後さらに実施してみたいこと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95528"/>
            <a:ext cx="896112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626B76"/>
                </a:solidFill>
                <a:latin typeface="Yu Gothic"/>
              </a:rPr>
              <a:t>最新評価を踏まえると、次の焦点はかなり明確になった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051560"/>
            <a:ext cx="1463040" cy="64008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44" y="1572768"/>
            <a:ext cx="5321808" cy="4498848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36208" y="1572768"/>
            <a:ext cx="5321808" cy="4498848"/>
          </a:xfrm>
          <a:prstGeom prst="roundRect">
            <a:avLst/>
          </a:prstGeom>
          <a:solidFill>
            <a:srgbClr val="EAF3F1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47088"/>
            <a:ext cx="256032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000" b="1">
                <a:solidFill>
                  <a:srgbClr val="13767A"/>
                </a:solidFill>
                <a:latin typeface="Yu Gothic"/>
              </a:rPr>
              <a:t>モデル改善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39696"/>
            <a:ext cx="4617720" cy="310896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誤り -&gt; 不正確 の 4 件を優先して潰し、誤り recall をもう一段引き上げる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ほぼ正確 -&gt; 正確 6 件、ほぼ正確 -&gt; 不正確 2 件を材料に、境界ルールを整理する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Ver4 を主軸に改善しつつ、安全な修正は Ver2 / Ver3 に追従させる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1847088"/>
            <a:ext cx="329184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000" b="1">
                <a:solidFill>
                  <a:srgbClr val="C96D31"/>
                </a:solidFill>
                <a:latin typeface="Yu Gothic"/>
              </a:rPr>
              <a:t>データと運用の拡張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139696"/>
            <a:ext cx="4617720" cy="310896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CSV / XLSX を使って誤判定をケース単位で見直し、ルール修正の根拠を増やす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時事性の高いケースや SNS 投稿に近いデータを追加し、実運用に近い評価へ広げる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発表では『今できていること』と『まだできていないこと』を分けて伝える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28232"/>
            <a:ext cx="10972800" cy="182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626B76"/>
                </a:solidFill>
                <a:latin typeface="Yu Gothic"/>
              </a:rPr>
              <a:t>Fake News Checker | 2026-04-11 最新評価を本編へ統合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8412480" cy="4389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600" b="1">
                <a:solidFill>
                  <a:srgbClr val="1F2A34"/>
                </a:solidFill>
                <a:latin typeface="Yu Gothic"/>
              </a:rPr>
              <a:t>図の説明: summary_metrics.png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95528"/>
            <a:ext cx="896112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626B76"/>
                </a:solidFill>
                <a:latin typeface="Yu Gothic"/>
              </a:rPr>
              <a:t>全体指標はかなり改善したが、誤り recall にはまだ伸びしろがある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051560"/>
            <a:ext cx="1463040" cy="64008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ummary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706026"/>
            <a:ext cx="6400800" cy="423233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1572768"/>
            <a:ext cx="3913632" cy="4480560"/>
          </a:xfrm>
          <a:prstGeom prst="roundRect">
            <a:avLst/>
          </a:prstGeom>
          <a:solidFill>
            <a:srgbClr val="F3EEE5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71231" y="1828800"/>
            <a:ext cx="256032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900" b="1">
                <a:solidFill>
                  <a:srgbClr val="13767A"/>
                </a:solidFill>
                <a:latin typeface="Yu Gothic"/>
              </a:rPr>
              <a:t>読み取りポイント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16368" y="2139696"/>
            <a:ext cx="3291840" cy="256032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Accuracy は 0.840、Macro F1 は 0.837 まで改善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Weighted F1 も 0.837 で、全体として安定してきた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Binary Precision 1.000 に対し、Binary Recall は 0.800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つまり『誤り』を出したときの精度は高いが、まだ 20% ほど取りこぼしがある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28232"/>
            <a:ext cx="10972800" cy="182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626B76"/>
                </a:solidFill>
                <a:latin typeface="Yu Gothic"/>
              </a:rPr>
              <a:t>Fake News Checker | 2026-04-11 最新評価を本編へ統合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8412480" cy="4389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600" b="1">
                <a:solidFill>
                  <a:srgbClr val="1F2A34"/>
                </a:solidFill>
                <a:latin typeface="Yu Gothic"/>
              </a:rPr>
              <a:t>図の説明: per_class_metrics.png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95528"/>
            <a:ext cx="896112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626B76"/>
                </a:solidFill>
                <a:latin typeface="Yu Gothic"/>
              </a:rPr>
              <a:t>クラスごとに見ると、保留と不正確は強く、ほぼ正確の回収が弱い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051560"/>
            <a:ext cx="1463040" cy="64008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97261"/>
            <a:ext cx="6812280" cy="366815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35240" y="1572768"/>
            <a:ext cx="3611880" cy="4480560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82127" y="1828800"/>
            <a:ext cx="256032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900" b="1">
                <a:solidFill>
                  <a:srgbClr val="13767A"/>
                </a:solidFill>
                <a:latin typeface="Yu Gothic"/>
              </a:rPr>
              <a:t>読み取りポイント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45552" y="2139696"/>
            <a:ext cx="2926080" cy="260604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判断保留は precision / recall / F1 がすべて 1.000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不正確は recall 1.000 で安定している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ほぼ正確は recall 0.600 で、ここが現在の弱点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誤りは recall 0.800 まで改善したが、まだ上げたい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28232"/>
            <a:ext cx="10972800" cy="182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626B76"/>
                </a:solidFill>
                <a:latin typeface="Yu Gothic"/>
              </a:rPr>
              <a:t>Fake News Checker | 2026-04-11 最新評価を本編へ統合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8412480" cy="4389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600" b="1">
                <a:solidFill>
                  <a:srgbClr val="1F2A34"/>
                </a:solidFill>
                <a:latin typeface="Yu Gothic"/>
              </a:rPr>
              <a:t>図の説明: confusion_matrix.png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95528"/>
            <a:ext cx="896112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626B76"/>
                </a:solidFill>
                <a:latin typeface="Yu Gothic"/>
              </a:rPr>
              <a:t>どのラベルへ流れているかを見ると、今の残課題がはっきり見える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051560"/>
            <a:ext cx="1463040" cy="64008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083" y="1536192"/>
            <a:ext cx="5820490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572768"/>
            <a:ext cx="4114800" cy="4480560"/>
          </a:xfrm>
          <a:prstGeom prst="roundRect">
            <a:avLst/>
          </a:prstGeom>
          <a:solidFill>
            <a:srgbClr val="EAF3F1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60920" y="1828800"/>
            <a:ext cx="283464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900" b="1">
                <a:solidFill>
                  <a:srgbClr val="13767A"/>
                </a:solidFill>
                <a:latin typeface="Yu Gothic"/>
              </a:rPr>
              <a:t>読み取りポイント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139696"/>
            <a:ext cx="3429000" cy="260604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正確 20 件のうち 16 件は正解、4 件は ほぼ正確 に落ちた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ほぼ正確 20 件のうち 6 件が 正確、2 件が 不正確 に流れた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誤り 20 件のうち 16 件は正解、4 件は 不正確 に落ちた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改善の中心は『ほぼ正確』境界と『誤り』の押し切りであることが分かる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28232"/>
            <a:ext cx="10972800" cy="182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626B76"/>
                </a:solidFill>
                <a:latin typeface="Yu Gothic"/>
              </a:rPr>
              <a:t>Fake News Checker | 2026-04-11 最新評価を本編へ統合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8412480" cy="4389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600" b="1">
                <a:solidFill>
                  <a:srgbClr val="1F2A34"/>
                </a:solidFill>
                <a:latin typeface="Yu Gothic"/>
              </a:rPr>
              <a:t>図の説明: evaluation_overview.png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95528"/>
            <a:ext cx="896112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626B76"/>
                </a:solidFill>
                <a:latin typeface="Yu Gothic"/>
              </a:rPr>
              <a:t>集計サマリーからも、かなり改善したことと残課題が同時に確認できる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051560"/>
            <a:ext cx="1463040" cy="64008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alu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597" y="1508760"/>
            <a:ext cx="3678485" cy="45262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06440" y="1572768"/>
            <a:ext cx="5440680" cy="4480560"/>
          </a:xfrm>
          <a:prstGeom prst="roundRect">
            <a:avLst/>
          </a:prstGeom>
          <a:solidFill>
            <a:srgbClr val="F3EEE5"/>
          </a:solidFill>
          <a:ln w="14604">
            <a:solidFill>
              <a:srgbClr val="D9D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80760" y="1828800"/>
            <a:ext cx="2743200" cy="27432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900" b="1">
                <a:solidFill>
                  <a:srgbClr val="13767A"/>
                </a:solidFill>
                <a:latin typeface="Yu Gothic"/>
              </a:rPr>
              <a:t>読み取りポイント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139696"/>
            <a:ext cx="4709160" cy="2514600"/>
          </a:xfrm>
          <a:prstGeom prst="rect">
            <a:avLst/>
          </a:prstGeom>
          <a:noFill/>
        </p:spPr>
        <p:txBody>
          <a:bodyPr wrap="square" lIns="50800" rIns="508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sample_count は 100、全件処理できており skipped は 0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mismatches は 16 件で、初期版 63 件から大幅に減少した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Macro Avg precision 0.849 / recall 0.840 / f1 0.837</a:t>
            </a:r>
          </a:p>
          <a:p>
            <a:pPr algn="l">
              <a:spcAft>
                <a:spcPts val="700"/>
              </a:spcAft>
            </a:pPr>
            <a:r>
              <a:rPr sz="1700">
                <a:solidFill>
                  <a:srgbClr val="1F2A34"/>
                </a:solidFill>
                <a:latin typeface="Yu Gothic"/>
              </a:rPr>
              <a:t>総合性能はかなり伸びたが、mismatch 16 件をどう詰めるかが次のテーマになる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28232"/>
            <a:ext cx="10972800" cy="182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626B76"/>
                </a:solidFill>
                <a:latin typeface="Yu Gothic"/>
              </a:rPr>
              <a:t>Fake News Checker | 2026-04-11 最新評価を本編へ統合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8412480" cy="4389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600" b="1">
                <a:solidFill>
                  <a:srgbClr val="1F2A34"/>
                </a:solidFill>
                <a:latin typeface="Yu Gothic"/>
              </a:rPr>
              <a:t>参考資料: confusion_matrix.png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95528"/>
            <a:ext cx="896112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626B76"/>
                </a:solidFill>
                <a:latin typeface="Yu Gothic"/>
              </a:rPr>
              <a:t>Ver2 / evaluation_outputs/20260411-0509/plots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051560"/>
            <a:ext cx="1463040" cy="64008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0180" y="1371600"/>
            <a:ext cx="616972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28232"/>
            <a:ext cx="10972800" cy="182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626B76"/>
                </a:solidFill>
                <a:latin typeface="Yu Gothic"/>
              </a:rPr>
              <a:t>Fake News Checker | 2026-04-11 最新評価を本編へ統合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8412480" cy="4389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600" b="1">
                <a:solidFill>
                  <a:srgbClr val="1F2A34"/>
                </a:solidFill>
                <a:latin typeface="Yu Gothic"/>
              </a:rPr>
              <a:t>参考資料: evaluation_overview.png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95528"/>
            <a:ext cx="896112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626B76"/>
                </a:solidFill>
                <a:latin typeface="Yu Gothic"/>
              </a:rPr>
              <a:t>Ver2 / evaluation_outputs/20260411-0509/plots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051560"/>
            <a:ext cx="1463040" cy="64008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alu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15" y="1325880"/>
            <a:ext cx="4050049" cy="4983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28232"/>
            <a:ext cx="10972800" cy="182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626B76"/>
                </a:solidFill>
                <a:latin typeface="Yu Gothic"/>
              </a:rPr>
              <a:t>Fake News Checker | 2026-04-11 最新評価を本編へ統合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8412480" cy="4389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600" b="1">
                <a:solidFill>
                  <a:srgbClr val="1F2A34"/>
                </a:solidFill>
                <a:latin typeface="Yu Gothic"/>
              </a:rPr>
              <a:t>参考資料: per_class_metrics.png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95528"/>
            <a:ext cx="896112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626B76"/>
                </a:solidFill>
                <a:latin typeface="Yu Gothic"/>
              </a:rPr>
              <a:t>Ver2 / evaluation_outputs/20260411-0509/plots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051560"/>
            <a:ext cx="1463040" cy="64008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155" y="1408176"/>
            <a:ext cx="9085217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28232"/>
            <a:ext cx="10972800" cy="182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626B76"/>
                </a:solidFill>
                <a:latin typeface="Yu Gothic"/>
              </a:rPr>
              <a:t>Fake News Checker | 2026-04-11 最新評価を本編へ統合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8412480" cy="4389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2600" b="1">
                <a:solidFill>
                  <a:srgbClr val="1F2A34"/>
                </a:solidFill>
                <a:latin typeface="Yu Gothic"/>
              </a:rPr>
              <a:t>参考資料: summary_metrics.png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95528"/>
            <a:ext cx="8961120" cy="292608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626B76"/>
                </a:solidFill>
                <a:latin typeface="Yu Gothic"/>
              </a:rPr>
              <a:t>Ver2 / evaluation_outputs/20260411-0509/plots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" y="1051560"/>
            <a:ext cx="1463040" cy="64008"/>
          </a:xfrm>
          <a:prstGeom prst="rect">
            <a:avLst/>
          </a:prstGeom>
          <a:solidFill>
            <a:srgbClr val="137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ummary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936" y="1444752"/>
            <a:ext cx="7329367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28232"/>
            <a:ext cx="10972800" cy="182880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626B76"/>
                </a:solidFill>
                <a:latin typeface="Yu Gothic"/>
              </a:rPr>
              <a:t>Fake News Checker | 2026-04-11 最新評価を本編へ統合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