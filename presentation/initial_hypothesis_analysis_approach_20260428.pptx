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32004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0C8080"/>
                </a:solidFill>
                <a:latin typeface="Yu Gothic"/>
              </a:rPr>
              <a:t>4-1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03504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Yu Gothic"/>
              </a:rPr>
              <a:t>初期仮説：文章だけでは真偽判定は安定しない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34440"/>
            <a:ext cx="1234440" cy="64008"/>
          </a:xfrm>
          <a:prstGeom prst="rect">
            <a:avLst/>
          </a:prstGeom>
          <a:solidFill>
            <a:srgbClr val="0C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9966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5B6573"/>
                </a:solidFill>
                <a:latin typeface="Yu Gothic"/>
              </a:rPr>
              <a:t>書き振り・出典・外部根拠を分けて扱い、境界ケースを5段階で整理する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3337560" cy="1874519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100584" cy="1874519"/>
          </a:xfrm>
          <a:prstGeom prst="rect">
            <a:avLst/>
          </a:prstGeom>
          <a:solidFill>
            <a:srgbClr val="0C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002536"/>
            <a:ext cx="3017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Yu Gothic"/>
              </a:rPr>
              <a:t>仮説1｜書き振りは補助情報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68296"/>
            <a:ext cx="3008376" cy="130759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煽りや断定が強くても、即座に虚偽とは限らない</a:t>
            </a:r>
          </a:p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落ち着いた文章でも、事実誤認は起こり得る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1874519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100584" cy="1874519"/>
          </a:xfrm>
          <a:prstGeom prst="rect">
            <a:avLst/>
          </a:prstGeom>
          <a:solidFill>
            <a:srgbClr val="CF6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002536"/>
            <a:ext cx="3017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Yu Gothic"/>
              </a:rPr>
              <a:t>仮説2｜外部根拠が必要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68296"/>
            <a:ext cx="3008376" cy="130759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出典・著者・日付だけでは、主張の正しさは確認できない</a:t>
            </a:r>
          </a:p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公的機関・報道機関・ファクトチェック記事との照合が必要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74519"/>
            <a:ext cx="3337560" cy="1874519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874519"/>
            <a:ext cx="100584" cy="1874519"/>
          </a:xfrm>
          <a:prstGeom prst="rect">
            <a:avLst/>
          </a:prstGeom>
          <a:solidFill>
            <a:srgbClr val="489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002536"/>
            <a:ext cx="3017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Yu Gothic"/>
              </a:rPr>
              <a:t>仮説3｜境界ケースが難所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368296"/>
            <a:ext cx="3008376" cy="130759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大筋は正しいが、数字や時期だけ違う</a:t>
            </a:r>
          </a:p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一部真実だが、因果関係や文脈が違う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343400"/>
            <a:ext cx="10012680" cy="960120"/>
          </a:xfrm>
          <a:prstGeom prst="roundRect">
            <a:avLst/>
          </a:prstGeom>
          <a:solidFill>
            <a:srgbClr val="EEF5F4"/>
          </a:solidFill>
          <a:ln w="12700">
            <a:solidFill>
              <a:srgbClr val="BED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535424"/>
            <a:ext cx="94183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Yu Gothic"/>
              </a:rPr>
              <a:t>方針：二値分類ではなく、正確・ほぼ正確・判断保留・不正確・誤りの5段階で扱う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32004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0C8080"/>
                </a:solidFill>
                <a:latin typeface="Yu Gothic"/>
              </a:rPr>
              <a:t>4-2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03504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Yu Gothic"/>
              </a:rPr>
              <a:t>分析アプローチ：ローカル判定 × GPT × Gemini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34440"/>
            <a:ext cx="1234440" cy="64008"/>
          </a:xfrm>
          <a:prstGeom prst="rect">
            <a:avLst/>
          </a:prstGeom>
          <a:solidFill>
            <a:srgbClr val="0C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9966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5B6573"/>
                </a:solidFill>
                <a:latin typeface="Yu Gothic"/>
              </a:rPr>
              <a:t>一次判定を仮説として作り、外部根拠確認で補正して最終ラベルへ変換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1600200" cy="1234440"/>
          </a:xfrm>
          <a:prstGeom prst="roundRect">
            <a:avLst/>
          </a:prstGeom>
          <a:solidFill>
            <a:srgbClr val="0C8080"/>
          </a:solidFill>
          <a:ln w="12700">
            <a:solidFill>
              <a:srgbClr val="0C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86000"/>
            <a:ext cx="3291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103327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Yu Gothic"/>
              </a:rPr>
              <a:t>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06624"/>
            <a:ext cx="123444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40" b="0">
                <a:solidFill>
                  <a:srgbClr val="FFFFFF"/>
                </a:solidFill>
                <a:latin typeface="Yu Gothic"/>
              </a:rPr>
              <a:t>URLまたは本文
短文claimも対応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14016" y="2596896"/>
            <a:ext cx="393192" cy="320040"/>
          </a:xfrm>
          <a:prstGeom prst="rightArrow">
            <a:avLst/>
          </a:prstGeom>
          <a:solidFill>
            <a:srgbClr val="CDC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2148840"/>
            <a:ext cx="1600200" cy="1234440"/>
          </a:xfrm>
          <a:prstGeom prst="roundRect">
            <a:avLst/>
          </a:prstGeom>
          <a:solidFill>
            <a:srgbClr val="CF6F2D"/>
          </a:solidFill>
          <a:ln w="12700">
            <a:solidFill>
              <a:srgbClr val="CF6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79" y="2286000"/>
            <a:ext cx="3291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286000"/>
            <a:ext cx="103327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Yu Gothic"/>
              </a:rPr>
              <a:t>ローカル一次判定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706624"/>
            <a:ext cx="123444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40" b="0">
                <a:solidFill>
                  <a:srgbClr val="FFFFFF"/>
                </a:solidFill>
                <a:latin typeface="Yu Gothic"/>
              </a:rPr>
              <a:t>出典・日付・リンク数
表現の強さ・領域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489704" y="2596896"/>
            <a:ext cx="393192" cy="320040"/>
          </a:xfrm>
          <a:prstGeom prst="rightArrow">
            <a:avLst/>
          </a:prstGeom>
          <a:solidFill>
            <a:srgbClr val="CDC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8" y="2148840"/>
            <a:ext cx="1600200" cy="1234440"/>
          </a:xfrm>
          <a:prstGeom prst="roundRect">
            <a:avLst/>
          </a:prstGeom>
          <a:solidFill>
            <a:srgbClr val="366CA8"/>
          </a:solidFill>
          <a:ln w="12700">
            <a:solidFill>
              <a:srgbClr val="36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2286000"/>
            <a:ext cx="3291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286000"/>
            <a:ext cx="103327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Yu Gothic"/>
              </a:rPr>
              <a:t>GPT一次レビュー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706624"/>
            <a:ext cx="123444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40" b="0">
                <a:solidFill>
                  <a:srgbClr val="FFFFFF"/>
                </a:solidFill>
                <a:latin typeface="Yu Gothic"/>
              </a:rPr>
              <a:t>本文とメタ情報のみ
外部検索はしない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565392" y="2596896"/>
            <a:ext cx="393192" cy="320040"/>
          </a:xfrm>
          <a:prstGeom prst="rightArrow">
            <a:avLst/>
          </a:prstGeom>
          <a:solidFill>
            <a:srgbClr val="CDC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0296" y="2148840"/>
            <a:ext cx="1600200" cy="1234440"/>
          </a:xfrm>
          <a:prstGeom prst="roundRect">
            <a:avLst/>
          </a:prstGeom>
          <a:solidFill>
            <a:srgbClr val="48925D"/>
          </a:solidFill>
          <a:ln w="12700">
            <a:solidFill>
              <a:srgbClr val="4892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7456" y="2286000"/>
            <a:ext cx="3291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3" y="2286000"/>
            <a:ext cx="103327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Yu Gothic"/>
              </a:rPr>
              <a:t>Gemini外部根拠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2706624"/>
            <a:ext cx="123444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40" b="0">
                <a:solidFill>
                  <a:srgbClr val="FFFFFF"/>
                </a:solidFill>
                <a:latin typeface="Yu Gothic"/>
              </a:rPr>
              <a:t>google searchで
公開情報と照合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41080" y="2596896"/>
            <a:ext cx="393192" cy="320040"/>
          </a:xfrm>
          <a:prstGeom prst="rightArrow">
            <a:avLst/>
          </a:prstGeom>
          <a:solidFill>
            <a:srgbClr val="CDC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15984" y="2148840"/>
            <a:ext cx="1600200" cy="1234440"/>
          </a:xfrm>
          <a:prstGeom prst="roundRect">
            <a:avLst/>
          </a:prstGeom>
          <a:solidFill>
            <a:srgbClr val="BE3A3D"/>
          </a:solidFill>
          <a:ln w="12700">
            <a:solidFill>
              <a:srgbClr val="BE3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3144" y="2286000"/>
            <a:ext cx="3291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2286000"/>
            <a:ext cx="103327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Yu Gothic"/>
              </a:rPr>
              <a:t>最終出力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3" y="2706624"/>
            <a:ext cx="123444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40" b="0">
                <a:solidFill>
                  <a:srgbClr val="FFFFFF"/>
                </a:solidFill>
                <a:latin typeface="Yu Gothic"/>
              </a:rPr>
              <a:t>5区分・理由・
確認リンク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4251960"/>
            <a:ext cx="3383280" cy="114300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" y="4251960"/>
            <a:ext cx="100584" cy="1143000"/>
          </a:xfrm>
          <a:prstGeom prst="rect">
            <a:avLst/>
          </a:prstGeom>
          <a:solidFill>
            <a:srgbClr val="36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" y="4379976"/>
            <a:ext cx="30632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Yu Gothic"/>
              </a:rPr>
              <a:t>ポイントA｜GPTは最終判定ではない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4745736"/>
            <a:ext cx="3054096" cy="5760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30">
                <a:solidFill>
                  <a:srgbClr val="5B6573"/>
                </a:solidFill>
                <a:latin typeface="Yu Gothic"/>
              </a:rPr>
              <a:t>GPTの出力は仮説として弱く混ぜる。短文claimではさらに控えめに反映。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6552" y="4251960"/>
            <a:ext cx="3383280" cy="114300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16552" y="4251960"/>
            <a:ext cx="100584" cy="1143000"/>
          </a:xfrm>
          <a:prstGeom prst="rect">
            <a:avLst/>
          </a:prstGeom>
          <a:solidFill>
            <a:srgbClr val="489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4379976"/>
            <a:ext cx="30632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Yu Gothic"/>
              </a:rPr>
              <a:t>ポイントB｜Geminiは根拠確認役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745736"/>
            <a:ext cx="3054096" cy="5760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30">
                <a:solidFill>
                  <a:srgbClr val="5B6573"/>
                </a:solidFill>
                <a:latin typeface="Yu Gothic"/>
              </a:rPr>
              <a:t>主張ごとに「概ね整合」「反証あり」「判定不能」などを返す。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64424" y="4251960"/>
            <a:ext cx="3383280" cy="114300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64424" y="4251960"/>
            <a:ext cx="100584" cy="1143000"/>
          </a:xfrm>
          <a:prstGeom prst="rect">
            <a:avLst/>
          </a:prstGeom>
          <a:solidFill>
            <a:srgbClr val="0C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65592" y="4379976"/>
            <a:ext cx="30632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Yu Gothic"/>
              </a:rPr>
              <a:t>ポイントC｜最後はルールで整える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4745736"/>
            <a:ext cx="3054096" cy="5760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30">
                <a:solidFill>
                  <a:srgbClr val="5B6573"/>
                </a:solidFill>
                <a:latin typeface="Yu Gothic"/>
              </a:rPr>
              <a:t>一部真実・細部違い・歴史論争を5段階に分類する。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32004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0C8080"/>
                </a:solidFill>
                <a:latin typeface="Yu Gothic"/>
              </a:rPr>
              <a:t>4-3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03504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Yu Gothic"/>
              </a:rPr>
              <a:t>5段階判定の考え方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34440"/>
            <a:ext cx="1234440" cy="64008"/>
          </a:xfrm>
          <a:prstGeom prst="rect">
            <a:avLst/>
          </a:prstGeom>
          <a:solidFill>
            <a:srgbClr val="0C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9966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5B6573"/>
                </a:solidFill>
                <a:latin typeface="Yu Gothic"/>
              </a:rPr>
              <a:t>「何が正しく、何が違うのか」を残すために、境界ラベルを明確化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783080"/>
            <a:ext cx="1417320" cy="475488"/>
          </a:xfrm>
          <a:prstGeom prst="roundRect">
            <a:avLst/>
          </a:prstGeom>
          <a:solidFill>
            <a:srgbClr val="0C8080"/>
          </a:solidFill>
          <a:ln w="12700">
            <a:solidFill>
              <a:srgbClr val="0C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Yu Gothic"/>
              </a:rPr>
              <a:t>正確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1810512"/>
            <a:ext cx="81381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Yu Gothic"/>
              </a:rPr>
              <a:t>主要な主張が外部根拠と一致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532888"/>
            <a:ext cx="1417320" cy="475488"/>
          </a:xfrm>
          <a:prstGeom prst="roundRect">
            <a:avLst/>
          </a:prstGeom>
          <a:solidFill>
            <a:srgbClr val="48925D"/>
          </a:solidFill>
          <a:ln w="12700">
            <a:solidFill>
              <a:srgbClr val="489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24328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Yu Gothic"/>
              </a:rPr>
              <a:t>ほぼ正確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560320"/>
            <a:ext cx="81381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Yu Gothic"/>
              </a:rPr>
              <a:t>核心は正しいが、数字・時期・表現に軽微なズレ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282696"/>
            <a:ext cx="1417320" cy="475488"/>
          </a:xfrm>
          <a:prstGeom prst="roundRect">
            <a:avLst/>
          </a:prstGeom>
          <a:solidFill>
            <a:srgbClr val="E2AC37"/>
          </a:solidFill>
          <a:ln w="12700">
            <a:solidFill>
              <a:srgbClr val="E2A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74136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Yu Gothic"/>
              </a:rPr>
              <a:t>判断保留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310127"/>
            <a:ext cx="81381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Yu Gothic"/>
              </a:rPr>
              <a:t>将来予測・学説未確立・根拠不足で断定しない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032504"/>
            <a:ext cx="1417320" cy="475488"/>
          </a:xfrm>
          <a:prstGeom prst="roundRect">
            <a:avLst/>
          </a:prstGeom>
          <a:solidFill>
            <a:srgbClr val="CF6F2D"/>
          </a:solidFill>
          <a:ln w="12700">
            <a:solidFill>
              <a:srgbClr val="CF6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23944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Yu Gothic"/>
              </a:rPr>
              <a:t>不正確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4059936"/>
            <a:ext cx="81381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Yu Gothic"/>
              </a:rPr>
              <a:t>一部真実を含むが、重要な因果・人物・目的が違う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782312"/>
            <a:ext cx="1417320" cy="475488"/>
          </a:xfrm>
          <a:prstGeom prst="roundRect">
            <a:avLst/>
          </a:prstGeom>
          <a:solidFill>
            <a:srgbClr val="BE3A3D"/>
          </a:solidFill>
          <a:ln w="12700">
            <a:solidFill>
              <a:srgbClr val="BE3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73751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Yu Gothic"/>
              </a:rPr>
              <a:t>誤り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4809744"/>
            <a:ext cx="813816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Yu Gothic"/>
              </a:rPr>
              <a:t>核心が反証され、捏造・デマ・存在しない発言に近い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669280"/>
            <a:ext cx="10012680" cy="56692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CD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5797296"/>
            <a:ext cx="9464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Yu Gothic"/>
              </a:rPr>
              <a:t>狙い：『誤り』に寄せすぎず、実務で必要な注意度と説明可能性を両立する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32004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0C8080"/>
                </a:solidFill>
                <a:latin typeface="Yu Gothic"/>
              </a:rPr>
              <a:t>4-4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03504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Yu Gothic"/>
              </a:rPr>
              <a:t>分析の進め方：評価しながら汎化を意識して改善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34440"/>
            <a:ext cx="1234440" cy="64008"/>
          </a:xfrm>
          <a:prstGeom prst="rect">
            <a:avLst/>
          </a:prstGeom>
          <a:solidFill>
            <a:srgbClr val="0C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9966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5B6573"/>
                </a:solidFill>
                <a:latin typeface="Yu Gothic"/>
              </a:rPr>
              <a:t>100件データセットで検証し、固有名詞パッチではなく構造ルールを優先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246120" cy="150876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100584" cy="1508760"/>
          </a:xfrm>
          <a:prstGeom prst="rect">
            <a:avLst/>
          </a:prstGeom>
          <a:solidFill>
            <a:srgbClr val="0C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911095"/>
            <a:ext cx="292607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Yu Gothic"/>
              </a:rPr>
              <a:t>評価データ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276856"/>
            <a:ext cx="2916936" cy="94183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5ラベル × 20件 = 100件</a:t>
            </a:r>
          </a:p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accuracy / macro F1 / 混同行列で確認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783080"/>
            <a:ext cx="3246120" cy="150876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783080"/>
            <a:ext cx="100584" cy="1508760"/>
          </a:xfrm>
          <a:prstGeom prst="rect">
            <a:avLst/>
          </a:prstGeom>
          <a:solidFill>
            <a:srgbClr val="CF6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11095"/>
            <a:ext cx="292607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Yu Gothic"/>
              </a:rPr>
              <a:t>ミスマッチ分析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76856"/>
            <a:ext cx="2916936" cy="94183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どのラベル間で間違えたかを見る</a:t>
            </a:r>
          </a:p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Geminiの返答揺れも確認する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783080"/>
            <a:ext cx="3246120" cy="150876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783080"/>
            <a:ext cx="100584" cy="1508760"/>
          </a:xfrm>
          <a:prstGeom prst="rect">
            <a:avLst/>
          </a:prstGeom>
          <a:solidFill>
            <a:srgbClr val="489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911095"/>
            <a:ext cx="292607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Yu Gothic"/>
              </a:rPr>
              <a:t>改善方針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276856"/>
            <a:ext cx="2916936" cy="94183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固有名詞の暗記ではなく、構造で補正</a:t>
            </a:r>
          </a:p>
          <a:p>
            <a:pPr>
              <a:spcAft>
                <a:spcPts val="300"/>
              </a:spcAft>
            </a:pPr>
            <a:r>
              <a:rPr sz="1180">
                <a:solidFill>
                  <a:srgbClr val="5B6573"/>
                </a:solidFill>
                <a:latin typeface="Yu Gothic"/>
              </a:rPr>
              <a:t>未知データでblind testを行う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160520"/>
            <a:ext cx="1572768" cy="841248"/>
          </a:xfrm>
          <a:prstGeom prst="roundRect">
            <a:avLst/>
          </a:prstGeom>
          <a:solidFill>
            <a:srgbClr val="0C8080"/>
          </a:solidFill>
          <a:ln w="12700">
            <a:solidFill>
              <a:srgbClr val="0C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" y="4352544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評価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880360" y="4407408"/>
            <a:ext cx="393192" cy="320040"/>
          </a:xfrm>
          <a:prstGeom prst="rightArrow">
            <a:avLst/>
          </a:prstGeom>
          <a:solidFill>
            <a:srgbClr val="CDC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0" y="4160520"/>
            <a:ext cx="1572768" cy="841248"/>
          </a:xfrm>
          <a:prstGeom prst="roundRect">
            <a:avLst/>
          </a:prstGeom>
          <a:solidFill>
            <a:srgbClr val="CF6F2D"/>
          </a:solidFill>
          <a:ln w="12700">
            <a:solidFill>
              <a:srgbClr val="CF6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4352544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誤分類の
原因分類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94960" y="4407408"/>
            <a:ext cx="393192" cy="320040"/>
          </a:xfrm>
          <a:prstGeom prst="rightArrow">
            <a:avLst/>
          </a:prstGeom>
          <a:solidFill>
            <a:srgbClr val="CDC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4160520"/>
            <a:ext cx="1572768" cy="841248"/>
          </a:xfrm>
          <a:prstGeom prst="roundRect">
            <a:avLst/>
          </a:prstGeom>
          <a:solidFill>
            <a:srgbClr val="48925D"/>
          </a:solidFill>
          <a:ln w="12700">
            <a:solidFill>
              <a:srgbClr val="4892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4352544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構造ルール
追加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092440" y="4407408"/>
            <a:ext cx="393192" cy="320040"/>
          </a:xfrm>
          <a:prstGeom prst="rightArrow">
            <a:avLst/>
          </a:prstGeom>
          <a:solidFill>
            <a:srgbClr val="CDC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06840" y="4160520"/>
            <a:ext cx="1572768" cy="841248"/>
          </a:xfrm>
          <a:prstGeom prst="roundRect">
            <a:avLst/>
          </a:prstGeom>
          <a:solidFill>
            <a:srgbClr val="366CA8"/>
          </a:solidFill>
          <a:ln w="12700">
            <a:solidFill>
              <a:srgbClr val="366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4352544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再実行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650992"/>
            <a:ext cx="9646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50" b="1">
                <a:solidFill>
                  <a:srgbClr val="1F2937"/>
                </a:solidFill>
                <a:latin typeface="Yu Gothic"/>
              </a:rPr>
              <a:t>今後：既存100件は開発用、別のblind 100件で本当の汎化性能を確認する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