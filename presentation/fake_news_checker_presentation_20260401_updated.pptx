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201168" cy="4754880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datamix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81328"/>
            <a:ext cx="612648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生成AI・機械学習エンジニア育成講座
卒業発表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603504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フェイクニュースチェッカー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38404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D5DBE1"/>
                </a:solidFill>
                <a:latin typeface="Yu Gothic"/>
              </a:rPr>
              <a:t>プレゼン資料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D5DBE1"/>
                </a:solidFill>
                <a:latin typeface="Yu Gothic"/>
              </a:rPr>
              <a:t>Fake News Checker / 2026年4月1日時点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138928"/>
            <a:ext cx="40233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D5DBE1"/>
                </a:solidFill>
                <a:latin typeface="Yu Gothic"/>
              </a:rPr>
              <a:t>2025年7月期　中村隆之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8512" y="1097280"/>
            <a:ext cx="2697480" cy="4297680"/>
          </a:xfrm>
          <a:prstGeom prst="roundRect">
            <a:avLst/>
          </a:prstGeom>
          <a:solidFill>
            <a:srgbClr val="F2EEE5"/>
          </a:solidFill>
          <a:ln w="14604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1481328"/>
            <a:ext cx="20116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626B76"/>
                </a:solidFill>
                <a:latin typeface="Yu Gothic"/>
              </a:rPr>
              <a:t>発表で扱う内容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1847088"/>
            <a:ext cx="2148840" cy="2880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課題と選んだ理由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使用したデータ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仮説とアプローチ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分析結果・考察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ビジネスインパクト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工夫点と今後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1. 課題と選んだ理由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誤った情報に踊らされず、正確な情報へ近づく支援を作る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534924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1344" y="1389888"/>
            <a:ext cx="534924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2103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社会的な背景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663440" cy="3291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オールドメディアと呼ばれる既存メディアへの不信感が強まる一方で、X や YouTube など SNS の台頭により、マスメディアとは異なる情報が大量に流通している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2024年の兵庫県知事の辞職と再選という一連の騒動では、一方的な報道しかしないマスメディアへの不信感を強く意識した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世界情勢が不安定な時代だからこそ、戦時中にマスメディアが戦争を煽った歴史も踏まえ、誤った情報に流されない仕組みが必要だと考えた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664208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個人的に選んだ理由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663440" cy="3246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昔、誤った情報に騙されて痛い出費をした苦い過去があり、マスメディアに騙されたようで少し怒りを感じた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真偽を自分で確かめる力がなければ、強い言葉や一方的な報道に振り回されてしまうと実感した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だからこそ、断定の代行ではなく、正確な情報へ近づくための確認支援ツールを作りたいと考えた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4983480"/>
            <a:ext cx="141732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4983480"/>
            <a:ext cx="14173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5148072"/>
            <a:ext cx="11430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5367528"/>
            <a:ext cx="1143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URL / 本文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4983480"/>
            <a:ext cx="132588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4983480"/>
            <a:ext cx="132588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514807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5367528"/>
            <a:ext cx="10515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5区分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4983480"/>
            <a:ext cx="171907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28048" y="4983480"/>
            <a:ext cx="171907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5148072"/>
            <a:ext cx="144475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5367528"/>
            <a:ext cx="144475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正確な情報へ近づく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2. 使用したデータについて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balanced 100件の real_article_dataset_v2 を使って Ver2 / Ver3 を比較評価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200400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69080" y="1481328"/>
            <a:ext cx="2880360" cy="274320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59752" y="1481328"/>
            <a:ext cx="4352544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21031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dataset の概要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6"/>
            <a:ext cx="269748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ファイル: real_article_dataset_v2.json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件数: 100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curated_on: 2026-04-01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5区分は各20件で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55648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スキーマ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048256"/>
            <a:ext cx="219456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`id`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`expected_verdict`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`analysis_text`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`expected_domain`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55648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ドメイン分布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048256"/>
            <a:ext cx="365760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一般: 67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医療: 13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金融: 10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災害: 6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政治: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526280"/>
            <a:ext cx="10808208" cy="105156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36592"/>
            <a:ext cx="10332720" cy="548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評価対象は記事全文ではなく analysis_text に要約した中心命題で、expected_verdict と expected_domain を直接比較できるようにしている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3. 初期仮説・分析アプローチ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ローカル一次判定と Gemini の外部根拠比較を組み合わせれば、境界ケースを改善できると考えた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444752"/>
            <a:ext cx="10826496" cy="1664208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1028700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仮説1: 出典の有無、著者、日付、リンク数、表現の強さなどのヒューリスティックで危険度の目安は作れる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仮説2: 境界ケースは Gemini の google_search と url_context を使った外部根拠比較を加えることで改善できる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仮説3: 書き振り評価は真偽判定と分離した方が、煽り表現だけで誤判定するリスクを下げられる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1828800" cy="1261872"/>
          </a:xfrm>
          <a:prstGeom prst="roundRect">
            <a:avLst/>
          </a:prstGeom>
          <a:solidFill>
            <a:srgbClr val="13767A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URL または本文</a:t>
            </a:r>
          </a:p>
        </p:txBody>
      </p:sp>
      <p:sp>
        <p:nvSpPr>
          <p:cNvPr id="10" name="Chevron 9"/>
          <p:cNvSpPr/>
          <p:nvPr/>
        </p:nvSpPr>
        <p:spPr>
          <a:xfrm>
            <a:off x="2651760" y="4215384"/>
            <a:ext cx="320040" cy="310896"/>
          </a:xfrm>
          <a:prstGeom prst="chevron">
            <a:avLst/>
          </a:prstGeom>
          <a:solidFill>
            <a:srgbClr val="AFC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3794760"/>
            <a:ext cx="1828800" cy="1261872"/>
          </a:xfrm>
          <a:prstGeom prst="roundRect">
            <a:avLst/>
          </a:prstGeom>
          <a:solidFill>
            <a:srgbClr val="C96D31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risk / confidence / domain を推定</a:t>
            </a:r>
          </a:p>
        </p:txBody>
      </p:sp>
      <p:sp>
        <p:nvSpPr>
          <p:cNvPr id="14" name="Chevron 13"/>
          <p:cNvSpPr/>
          <p:nvPr/>
        </p:nvSpPr>
        <p:spPr>
          <a:xfrm>
            <a:off x="4846320" y="4215384"/>
            <a:ext cx="320040" cy="310896"/>
          </a:xfrm>
          <a:prstGeom prst="chevron">
            <a:avLst/>
          </a:prstGeom>
          <a:solidFill>
            <a:srgbClr val="DC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2352" y="3794760"/>
            <a:ext cx="1828800" cy="1261872"/>
          </a:xfrm>
          <a:prstGeom prst="roundRect">
            <a:avLst/>
          </a:prstGeom>
          <a:solidFill>
            <a:srgbClr val="458E5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Gemini 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外部根拠と反証を照合</a:t>
            </a:r>
          </a:p>
        </p:txBody>
      </p:sp>
      <p:sp>
        <p:nvSpPr>
          <p:cNvPr id="18" name="Chevron 17"/>
          <p:cNvSpPr/>
          <p:nvPr/>
        </p:nvSpPr>
        <p:spPr>
          <a:xfrm>
            <a:off x="7040880" y="4215384"/>
            <a:ext cx="320040" cy="310896"/>
          </a:xfrm>
          <a:prstGeom prst="chevron">
            <a:avLst/>
          </a:prstGeom>
          <a:solidFill>
            <a:srgbClr val="B7D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96912" y="3794760"/>
            <a:ext cx="1828800" cy="1261872"/>
          </a:xfrm>
          <a:prstGeom prst="roundRect">
            <a:avLst/>
          </a:prstGeom>
          <a:solidFill>
            <a:srgbClr val="C0912B"/>
          </a:solidFill>
          <a:ln w="14604">
            <a:solidFill>
              <a:srgbClr val="C0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書き振り評価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煽りや断定を別軸で評価</a:t>
            </a:r>
          </a:p>
        </p:txBody>
      </p:sp>
      <p:sp>
        <p:nvSpPr>
          <p:cNvPr id="22" name="Chevron 21"/>
          <p:cNvSpPr/>
          <p:nvPr/>
        </p:nvSpPr>
        <p:spPr>
          <a:xfrm>
            <a:off x="9235440" y="4215384"/>
            <a:ext cx="320040" cy="310896"/>
          </a:xfrm>
          <a:prstGeom prst="chevron">
            <a:avLst/>
          </a:prstGeom>
          <a:solidFill>
            <a:srgbClr val="DFD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1472" y="3794760"/>
            <a:ext cx="1828800" cy="1261872"/>
          </a:xfrm>
          <a:prstGeom prst="roundRect">
            <a:avLst/>
          </a:prstGeom>
          <a:solidFill>
            <a:srgbClr val="B53D3D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904488"/>
            <a:ext cx="1609344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178808"/>
            <a:ext cx="1609344" cy="7589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5区分・理由・確認リンク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分析結果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は Ver3 より少し改善したが、誤り recall 0.000 は共通課題として残っている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6355080" cy="3940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72768"/>
            <a:ext cx="3913632" cy="4407408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71231" y="1828800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1828800"/>
            <a:ext cx="1444752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1" y="1993392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Ver2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1" y="2212848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7152" y="1828800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17152" y="1828800"/>
            <a:ext cx="1444752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1993392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Ver2 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2212848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0.266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2761488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2761488"/>
            <a:ext cx="1444752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1" y="2926080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Ver3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1" y="3145536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0.330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2761488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2761488"/>
            <a:ext cx="1444752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926080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Ver3 Macro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3145536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0.206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3694176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3694176"/>
            <a:ext cx="1444752" cy="73152"/>
          </a:xfrm>
          <a:prstGeom prst="rect">
            <a:avLst/>
          </a:prstGeom>
          <a:solidFill>
            <a:srgbClr val="B5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1" y="3858768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誤り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1" y="4078224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3694176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17152" y="3694176"/>
            <a:ext cx="144475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3858768"/>
            <a:ext cx="11704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078224"/>
            <a:ext cx="117043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Ver2優位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4681728"/>
            <a:ext cx="3246120" cy="960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Ver2 は accuracy 0.370、macro F1 0.266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Ver3 は accuracy 0.330、macro F1 0.206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どちらも『誤り』を 1件も拾えていない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現在の Ver2 は『中間帯の検出』に寄りやすく、ラベルの両端を出し切れていない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27632"/>
            <a:ext cx="5029200" cy="395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609344"/>
            <a:ext cx="5230368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7648" y="1883664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主な誤判定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76272"/>
            <a:ext cx="4480560" cy="12344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正確 -&gt; ほぼ正確: 20件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判断保留 -&gt; 不正確: 12件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誤り -&gt; 不正確: 11件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370332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考察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005072"/>
            <a:ext cx="4480560" cy="1508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正確を『正確』へ戻せず、すべて『ほぼ正確』へ寄せている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誤りを『判断保留』や『不正確』へ逃がし、危険側へ押し切れていない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直近 tune4 の境界調整は改善せず、evidence の重み付け見直しが必要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5. ビジネスインパクト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現時点では『自動判定ツール』より『説明付き確認支援ツール』として価値が高い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64208"/>
            <a:ext cx="32461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2971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個人向け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48256"/>
            <a:ext cx="2971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投稿前セルフチェック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664208"/>
            <a:ext cx="324612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2971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組織向け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48256"/>
            <a:ext cx="2971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一次仕分けと優先順位付け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64208"/>
            <a:ext cx="3182112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664208"/>
            <a:ext cx="318211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828800"/>
            <a:ext cx="290779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教育向け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48256"/>
            <a:ext cx="2907792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メディアリテラシー支援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926080"/>
            <a:ext cx="10469880" cy="274320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996696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5区分 verdict に加え、理由・確認リンク・attention score を返すので、利用者が次の確認行動を取りやすい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自治体、学校、メディア運用では『まず人が見るべき候補』を絞る補助として使える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ただし 2026-04-01 時点では誤り recall が 0.000 のため、単独の自動ジャッジ用途にはまだ不十分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価値の中心は、断定の代行ではなく、確認コストの削減と注意喚起にある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評価可能な形に落とし込み、レビューしやすい運用まで整えた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481328"/>
            <a:ext cx="539496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72784" y="1481328"/>
            <a:ext cx="521208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011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設計面の工夫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663440" cy="1965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真偽判定と書き振り評価を分離し、煽り表現だけで真偽を決めない設計にした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dataset_runner / evaluation / plot をつなぎ、同じ dataset で改善前後を比較できるようにした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Gemini が失敗してもローカル判定へフォールバックして止まらないようにした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運用面の工夫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63440"/>
            <a:ext cx="4617720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evaluation_outputs では 5 plots を必須で出す運用にした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predictions JSON / eval JSON / plots / CSV / XLSX を同じ timestamp フォルダへまとめた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export_evaluation_bundle.ps1 で評価一式をまとめて再生成できるようにした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56232"/>
            <a:ext cx="1865376" cy="1033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5392" y="2953512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evaluation_dashboard.png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1856232"/>
            <a:ext cx="1865376" cy="1033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41664" y="2953512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confusion_matrix.png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mmary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474720"/>
            <a:ext cx="1865376" cy="1033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5392" y="4572000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summary_metrics.png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r_class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3474720"/>
            <a:ext cx="1865376" cy="10332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41664" y="4572000"/>
            <a:ext cx="1828800" cy="137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per_class_metrics.png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384048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626B76"/>
                </a:solidFill>
                <a:latin typeface="Yu Gothic"/>
              </a:rPr>
              <a:t>必須 5 枚目の evaluation_overview.png も同じ bundle に保存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今後さらに実施してみたいこと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を中心に、誤り経路の強化と正確ラベル復帰を次の改善テーマにする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572768"/>
            <a:ext cx="5321808" cy="44988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572768"/>
            <a:ext cx="5321808" cy="4498848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モデル改善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反証ありケースから『誤り』へ落とす evidence 設計を見直す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正確なケースを『ほぼ正確』へ寄せすぎないよう、正確ラベル復帰の較正を進める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tune4 を基準比較し、必要なら一段前の閾値へ戻して差分を測る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データと運用の拡張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CSV / XLSX を使って誤判定をケース単位で見直し、ルール修正の根拠を増やす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時事性の高いケースや SNS 投稿に近いデータを追加し、実運用に近い評価へ広げる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発表では『今できていること』と『まだできていないこと』を分けて伝える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confusion_matrix.png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149840" cy="7972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evaluation_overview.png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u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25880"/>
            <a:ext cx="5943600" cy="7313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per_class_metrics.png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10607040" cy="5711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summary_metrics.png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10515600" cy="6953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