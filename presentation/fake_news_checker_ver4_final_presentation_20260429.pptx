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886968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CDE5E3"/>
                </a:solidFill>
                <a:latin typeface="Yu Gothic"/>
              </a:rPr>
              <a:t>Fake News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64208"/>
            <a:ext cx="9875520" cy="100584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Yu Gothic"/>
              </a:rPr>
              <a:t>最終発表資料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88920"/>
            <a:ext cx="8138160" cy="53035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900" b="0">
                <a:solidFill>
                  <a:srgbClr val="E8EEF4"/>
                </a:solidFill>
                <a:latin typeface="Yu Gothic"/>
              </a:rPr>
              <a:t>課題・データ・分析アプローチ・結果・ビジネスインパクト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22402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2240280" cy="7315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343400"/>
            <a:ext cx="202082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99432"/>
            <a:ext cx="202082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0F7C80"/>
                </a:solidFill>
                <a:latin typeface="Yu Gothic"/>
              </a:rPr>
              <a:t>90.0%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2402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2240280" cy="73152"/>
          </a:xfrm>
          <a:prstGeom prst="rect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4343400"/>
            <a:ext cx="202082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4599432"/>
            <a:ext cx="202082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3D8F63"/>
                </a:solidFill>
                <a:latin typeface="Yu Gothic"/>
              </a:rPr>
              <a:t>89.9%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160520"/>
            <a:ext cx="22402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4160520"/>
            <a:ext cx="2240280" cy="73152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8" y="4343400"/>
            <a:ext cx="202082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Mismatches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4599432"/>
            <a:ext cx="202082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CF732F"/>
                </a:solidFill>
                <a:latin typeface="Yu Gothic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833872"/>
            <a:ext cx="3931920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D6E0E8"/>
                </a:solidFill>
                <a:latin typeface="Yu Gothic"/>
              </a:rP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1. 課題と選んだ理由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誤情報を早く見つけ、根拠付きで確認する支援が必要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937760" cy="56692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取り組む課題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65960"/>
            <a:ext cx="4800600" cy="20574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t>• SNSやニュース記事では、誤情報が短時間で広がりやすい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t>• 人手で全件確認するには時間がかかり、優先順位づけが難しい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t>• 単に真偽だけでなく、なぜそう判定したかの説明が必要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53312"/>
            <a:ext cx="5321808" cy="288036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664208"/>
            <a:ext cx="4709160" cy="31089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0F7C80"/>
                </a:solidFill>
                <a:latin typeface="Yu Gothic"/>
              </a:rPr>
              <a:t>選んだ理由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76272"/>
            <a:ext cx="4526280" cy="11430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000" b="0">
                <a:solidFill>
                  <a:srgbClr val="1B232B"/>
                </a:solidFill>
                <a:latin typeface="Yu Gothic"/>
              </a:rPr>
              <a:t>LLMは文章理解が得意だが、真偽判定には根拠確認が必要。そこで、LLMと外部根拠確認を組み合わせた実用的な確認支援ツールを検証した。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92040"/>
            <a:ext cx="10332720" cy="47548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目指したもの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394960"/>
            <a:ext cx="10607040" cy="58521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300" b="1">
                <a:solidFill>
                  <a:srgbClr val="183048"/>
                </a:solidFill>
                <a:latin typeface="Yu Gothic"/>
              </a:rPr>
              <a:t>大量の情報を一次スクリーニングし、人が確認すべき投稿を根拠付きで示す。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2. 使用したデータについて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100件の実記事・主張を5段階ラベルで評価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89888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2011680" cy="73152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72768"/>
            <a:ext cx="179222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179222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183048"/>
                </a:solidFill>
                <a:latin typeface="Yu Gothic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58568"/>
            <a:ext cx="1792224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0">
                <a:solidFill>
                  <a:srgbClr val="5A6570"/>
                </a:solidFill>
                <a:latin typeface="Yu Gothic"/>
              </a:rPr>
              <a:t>評価対象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5808" y="1389888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35808" y="1389888"/>
            <a:ext cx="2011680" cy="7315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1572768"/>
            <a:ext cx="179222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1828800"/>
            <a:ext cx="179222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0F7C80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258568"/>
            <a:ext cx="1792224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0">
                <a:solidFill>
                  <a:srgbClr val="5A6570"/>
                </a:solidFill>
                <a:latin typeface="Yu Gothic"/>
              </a:rPr>
              <a:t>5段階分類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1808" y="1389888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1808" y="1389888"/>
            <a:ext cx="2011680" cy="73152"/>
          </a:xfrm>
          <a:prstGeom prst="rect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1572768"/>
            <a:ext cx="179222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Each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1828800"/>
            <a:ext cx="179222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3D8F63"/>
                </a:solidFill>
                <a:latin typeface="Yu Gothic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1536" y="2258568"/>
            <a:ext cx="1792224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0">
                <a:solidFill>
                  <a:srgbClr val="5A6570"/>
                </a:solidFill>
                <a:latin typeface="Yu Gothic"/>
              </a:rPr>
              <a:t>各20件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7808" y="1389888"/>
            <a:ext cx="2011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7808" y="1389888"/>
            <a:ext cx="2011680" cy="73152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1572768"/>
            <a:ext cx="179222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Skipped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1828800"/>
            <a:ext cx="179222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CF732F"/>
                </a:solidFill>
                <a:latin typeface="Yu Gothic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2258568"/>
            <a:ext cx="1792224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0">
                <a:solidFill>
                  <a:srgbClr val="5A6570"/>
                </a:solidFill>
                <a:latin typeface="Yu Gothic"/>
              </a:rPr>
              <a:t>実行時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2880360"/>
            <a:ext cx="5074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127248"/>
            <a:ext cx="438912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83048"/>
                </a:solidFill>
                <a:latin typeface="Yu Gothic"/>
              </a:rPr>
              <a:t>ラベル構成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566160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正確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21408" y="3584448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21408" y="3584448"/>
            <a:ext cx="2651760" cy="100584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82896" y="3557016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100.0%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529584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20件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858768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ほぼ正確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1408" y="3877056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21408" y="3877056"/>
            <a:ext cx="2651760" cy="100584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2896" y="3849624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100.0%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822191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20件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4151375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判断保留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21408" y="4169663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21408" y="4169663"/>
            <a:ext cx="2651760" cy="100584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82896" y="4142231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100.0%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114800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20件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" y="4443984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不正確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21408" y="4462272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21408" y="4462272"/>
            <a:ext cx="2651760" cy="100584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82896" y="4434840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100.0%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407408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20件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4736592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誤り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21408" y="4754880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21408" y="4754880"/>
            <a:ext cx="2651760" cy="100584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82896" y="4727448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100.0%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4700016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20件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6208" y="2880360"/>
            <a:ext cx="50749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127248"/>
            <a:ext cx="438912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800" b="1">
                <a:solidFill>
                  <a:srgbClr val="183048"/>
                </a:solidFill>
                <a:latin typeface="Yu Gothic"/>
              </a:rPr>
              <a:t>ドメイン構成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3566160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一般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07808" y="3584448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07808" y="3584448"/>
            <a:ext cx="2651760" cy="100584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69296" y="3557016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100.0%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3529584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75件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0528" y="3858768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政治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07808" y="3877056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07808" y="3877056"/>
            <a:ext cx="565708" cy="100584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69296" y="3849624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21.3%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3822191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16件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10528" y="4151375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医療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07808" y="4169663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07808" y="4169663"/>
            <a:ext cx="176784" cy="100584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69296" y="4142231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6.7%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4114800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5件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0528" y="4443984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金融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07808" y="4462272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07808" y="4462272"/>
            <a:ext cx="70713" cy="100584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69296" y="4434840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2.7%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80" y="4407408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2件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10528" y="4736592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災害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07808" y="4754880"/>
            <a:ext cx="2651760" cy="10058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07808" y="4754880"/>
            <a:ext cx="70713" cy="100584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69296" y="4727448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2.7%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0" y="4700016"/>
            <a:ext cx="457200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2件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" y="5715000"/>
            <a:ext cx="10469880" cy="27432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600" b="1">
                <a:solidFill>
                  <a:srgbClr val="183048"/>
                </a:solidFill>
                <a:latin typeface="Yu Gothic"/>
              </a:rPr>
              <a:t>評価しやすいようにラベル数を揃え、正確性だけでなくラベルごとの弱点も見えるようにした。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3. 初期仮説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文章だけでは、ニュースの真偽判定は安定しない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937760" cy="56692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なぜ難しいのか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65960"/>
            <a:ext cx="4800600" cy="20574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t>• 数字・時期・固有名詞の小さなズレが判定を左右する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t>• 一部だけ正しい主張は、単純な真偽分類では扱いにくい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600">
                <a:solidFill>
                  <a:srgbClr val="1B232B"/>
                </a:solidFill>
                <a:latin typeface="Yu Gothic"/>
              </a:defRPr>
            </a:pPr>
            <a:r>
              <a:t>• 根拠不足や学説未確立の話題は、断定すると誤判定になりやすい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53312"/>
            <a:ext cx="5321808" cy="288036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664208"/>
            <a:ext cx="4709160" cy="31089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0F7C80"/>
                </a:solidFill>
                <a:latin typeface="Yu Gothic"/>
              </a:rPr>
              <a:t>Ver4の考え方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76272"/>
            <a:ext cx="4526280" cy="11430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000" b="0">
                <a:solidFill>
                  <a:srgbClr val="1B232B"/>
                </a:solidFill>
                <a:latin typeface="Yu Gothic"/>
              </a:rPr>
              <a:t>文章の印象だけで決めず、外部根拠と照合してから、正確・ほぼ正確・判断保留・不正確・誤りへ整理する。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92040"/>
            <a:ext cx="10332720" cy="47548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発表での一言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394960"/>
            <a:ext cx="10607040" cy="58521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300" b="1">
                <a:solidFill>
                  <a:srgbClr val="183048"/>
                </a:solidFill>
                <a:latin typeface="Yu Gothic"/>
              </a:rPr>
              <a:t>Ver4は、LLMの文脈理解と外部根拠確認を組み合わせ、断定しすぎない5段階判定を目指した。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3. 分析アプローチ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入力から最終ラベルまでを段階的に確認する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2648" y="195681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00253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1956816"/>
            <a:ext cx="978408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0F7C80"/>
                </a:solidFill>
                <a:latin typeface="Yu Gothic"/>
              </a:rPr>
              <a:t>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267712"/>
            <a:ext cx="1280160" cy="6126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記事本文・主張・確認対象を受け取る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12264" y="2267712"/>
            <a:ext cx="201168" cy="228600"/>
          </a:xfrm>
          <a:prstGeom prst="rightArrow">
            <a:avLst/>
          </a:prstGeom>
          <a:solidFill>
            <a:srgbClr val="5A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1448" y="1956816"/>
            <a:ext cx="310896" cy="310896"/>
          </a:xfrm>
          <a:prstGeom prst="ellipse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200253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1956816"/>
            <a:ext cx="978408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3D8F63"/>
                </a:solidFill>
                <a:latin typeface="Yu Gothic"/>
              </a:rPr>
              <a:t>ローカル一次判定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8024" y="2267712"/>
            <a:ext cx="1280160" cy="6126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注意度や候補ラベルを先に整理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41064" y="2267712"/>
            <a:ext cx="201168" cy="228600"/>
          </a:xfrm>
          <a:prstGeom prst="rightArrow">
            <a:avLst/>
          </a:prstGeom>
          <a:solidFill>
            <a:srgbClr val="5A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70248" y="1956816"/>
            <a:ext cx="310896" cy="310896"/>
          </a:xfrm>
          <a:prstGeom prst="ellipse">
            <a:avLst/>
          </a:prstGeom>
          <a:solidFill>
            <a:srgbClr val="BF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00253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1956816"/>
            <a:ext cx="978408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BF9730"/>
                </a:solidFill>
                <a:latin typeface="Yu Gothic"/>
              </a:rPr>
              <a:t>GPT一次レビュー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2267712"/>
            <a:ext cx="1280160" cy="6126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文脈理解と論点抽出を行う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769864" y="2267712"/>
            <a:ext cx="201168" cy="228600"/>
          </a:xfrm>
          <a:prstGeom prst="rightArrow">
            <a:avLst/>
          </a:prstGeom>
          <a:solidFill>
            <a:srgbClr val="5A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893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99048" y="1956816"/>
            <a:ext cx="310896" cy="310896"/>
          </a:xfrm>
          <a:prstGeom prst="ellipse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200253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1956816"/>
            <a:ext cx="978408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CF732F"/>
                </a:solidFill>
                <a:latin typeface="Yu Gothic"/>
              </a:rPr>
              <a:t>Gemini根拠確認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5624" y="2267712"/>
            <a:ext cx="1280160" cy="6126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外部情報と主張を照合する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598664" y="2267712"/>
            <a:ext cx="201168" cy="228600"/>
          </a:xfrm>
          <a:prstGeom prst="rightArrow">
            <a:avLst/>
          </a:prstGeom>
          <a:solidFill>
            <a:srgbClr val="5A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181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27848" y="1956816"/>
            <a:ext cx="310896" cy="310896"/>
          </a:xfrm>
          <a:prstGeom prst="ellipse">
            <a:avLst/>
          </a:prstGeom>
          <a:solidFill>
            <a:srgbClr val="B6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200253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1956816"/>
            <a:ext cx="978408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B63F3F"/>
                </a:solidFill>
                <a:latin typeface="Yu Gothic"/>
              </a:rPr>
              <a:t>補正ルール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4424" y="2267712"/>
            <a:ext cx="1280160" cy="6126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5段階ラベルへキャリブレーション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427464" y="2267712"/>
            <a:ext cx="201168" cy="228600"/>
          </a:xfrm>
          <a:prstGeom prst="rightArrow">
            <a:avLst/>
          </a:prstGeom>
          <a:solidFill>
            <a:srgbClr val="5A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46920" y="1828800"/>
            <a:ext cx="157276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756648" y="1956816"/>
            <a:ext cx="310896" cy="310896"/>
          </a:xfrm>
          <a:prstGeom prst="ellipse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6648" y="200253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0696" y="1956816"/>
            <a:ext cx="978408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183048"/>
                </a:solidFill>
                <a:latin typeface="Yu Gothic"/>
              </a:rPr>
              <a:t>出力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3224" y="2267712"/>
            <a:ext cx="1280160" cy="6126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判定・理由・確認リンクを返す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" y="4069080"/>
            <a:ext cx="10287000" cy="129844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61872" y="4370832"/>
            <a:ext cx="9692640" cy="32918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300" b="1">
                <a:solidFill>
                  <a:srgbClr val="183048"/>
                </a:solidFill>
                <a:latin typeface="Yu Gothic"/>
              </a:rPr>
              <a:t>重要なのは、LLMの出力をそのまま採用しないこと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882896"/>
            <a:ext cx="9464040" cy="27432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500" b="0">
                <a:solidFill>
                  <a:srgbClr val="5A6570"/>
                </a:solidFill>
                <a:latin typeface="Yu Gothic"/>
              </a:rPr>
              <a:t>外部根拠との対応関係を見て、最終判定をルールで補正する。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3. 5段階判定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現実の主張にあるグラデーションを表現する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566928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45336"/>
            <a:ext cx="16002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正確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45336"/>
            <a:ext cx="809244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主要部分が根拠と一致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03704"/>
            <a:ext cx="10789920" cy="56692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16002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0F7C80"/>
                </a:solidFill>
                <a:latin typeface="Yu Gothic"/>
              </a:rPr>
              <a:t>ほぼ正確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31720"/>
            <a:ext cx="809244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大筋は正しいが軽微なズレ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90088"/>
            <a:ext cx="10789920" cy="566928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118104"/>
            <a:ext cx="16002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判断保留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18104"/>
            <a:ext cx="809244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根拠不足・未確定で断定不可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789920" cy="56692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904488"/>
            <a:ext cx="16002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不正確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04488"/>
            <a:ext cx="809244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一部真実だが重要部分が誤り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62856"/>
            <a:ext cx="10789920" cy="566928"/>
          </a:xfrm>
          <a:prstGeom prst="roundRect">
            <a:avLst/>
          </a:prstGeom>
          <a:solidFill>
            <a:srgbClr val="F9E8E8"/>
          </a:solidFill>
          <a:ln w="12700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690872"/>
            <a:ext cx="16002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63F3F"/>
                </a:solidFill>
                <a:latin typeface="Yu Gothic"/>
              </a:rPr>
              <a:t>誤り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690872"/>
            <a:ext cx="809244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0">
                <a:solidFill>
                  <a:srgbClr val="1B232B"/>
                </a:solidFill>
                <a:latin typeface="Yu Gothic"/>
              </a:rPr>
              <a:t>核心部分が明確に否定される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183048"/>
                </a:solidFill>
                <a:latin typeface="Yu Gothic"/>
              </a:rPr>
              <a:t>ポイント: 「完全に正しい / 完全に誤り」だけでなく、中間ケースを明示的に扱う。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4. 分析結果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100件のbalanced datasetで5段階分類を評価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89888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389888"/>
            <a:ext cx="1965960" cy="73152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174650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74650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183048"/>
                </a:solidFill>
                <a:latin typeface="Yu Gothic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1746504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0">
                <a:solidFill>
                  <a:srgbClr val="5A6570"/>
                </a:solidFill>
                <a:latin typeface="Yu Gothic"/>
              </a:rPr>
              <a:t>5ラベル各20件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389888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07792" y="1389888"/>
            <a:ext cx="1965960" cy="7315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572768"/>
            <a:ext cx="174650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828800"/>
            <a:ext cx="174650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0F7C80"/>
                </a:solidFill>
                <a:latin typeface="Yu Gothic"/>
              </a:rPr>
              <a:t>90.0%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1389888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02352" y="1389888"/>
            <a:ext cx="1965960" cy="73152"/>
          </a:xfrm>
          <a:prstGeom prst="rect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572768"/>
            <a:ext cx="174650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Macro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828800"/>
            <a:ext cx="174650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3D8F63"/>
                </a:solidFill>
                <a:latin typeface="Yu Gothic"/>
              </a:rPr>
              <a:t>89.9%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1389888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96912" y="1389888"/>
            <a:ext cx="1965960" cy="73152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572768"/>
            <a:ext cx="174650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Binary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828800"/>
            <a:ext cx="174650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CF732F"/>
                </a:solidFill>
                <a:latin typeface="Yu Gothic"/>
              </a:rPr>
              <a:t>95.0%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258568"/>
            <a:ext cx="1746504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0">
                <a:solidFill>
                  <a:srgbClr val="5A6570"/>
                </a:solidFill>
                <a:latin typeface="Yu Gothic"/>
              </a:rPr>
              <a:t>誤り検出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91472" y="1389888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91472" y="1389888"/>
            <a:ext cx="1965960" cy="73152"/>
          </a:xfrm>
          <a:prstGeom prst="rect">
            <a:avLst/>
          </a:prstGeom>
          <a:solidFill>
            <a:srgbClr val="B6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572768"/>
            <a:ext cx="1746504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A6570"/>
                </a:solidFill>
                <a:latin typeface="Yu Gothic"/>
              </a:rPr>
              <a:t>Skipped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828800"/>
            <a:ext cx="1746504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500" b="1">
                <a:solidFill>
                  <a:srgbClr val="B63F3F"/>
                </a:solidFill>
                <a:latin typeface="Yu Gothic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2907792"/>
            <a:ext cx="52120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35" y="2980944"/>
            <a:ext cx="4449209" cy="239572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199632" y="2907792"/>
            <a:ext cx="521208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ummary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73" y="2980944"/>
            <a:ext cx="3623197" cy="23957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4. 考察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LLM出力を5段階ラベルへどう写像するかを改善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44752"/>
            <a:ext cx="5074920" cy="1261872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61772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核心が正しい + 軽微差分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66544"/>
            <a:ext cx="4617720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数字・時期・表現差は、必要に応じて「ほぼ正確」へ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44752"/>
            <a:ext cx="5074920" cy="1261872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1772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一部真実 + 重要な誤り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66544"/>
            <a:ext cx="4617720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正しい要素があっても、結論を歪める場合は「不正確」へ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108960"/>
            <a:ext cx="5074920" cy="1261872"/>
          </a:xfrm>
          <a:prstGeom prst="roundRect">
            <a:avLst/>
          </a:prstGeom>
          <a:solidFill>
            <a:srgbClr val="F9E8E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461772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63F3F"/>
                </a:solidFill>
                <a:latin typeface="Yu Gothic"/>
              </a:rPr>
              <a:t>存在しない発言・明確な反証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4617720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根拠で否定できる場合は「誤り」へ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108960"/>
            <a:ext cx="5074920" cy="1261872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10128"/>
            <a:ext cx="461772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論争中・根拠不足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30752"/>
            <a:ext cx="4617720" cy="4114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歴史論争や未確定情報は「判断保留」へ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5138928"/>
            <a:ext cx="10012680" cy="65836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349240"/>
            <a:ext cx="9646920" cy="21945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183048"/>
                </a:solidFill>
                <a:latin typeface="Yu Gothic"/>
              </a:rPr>
              <a:t>モデル自体を再学習したのではなく、判定ロジックのキャリブレーションを行った。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4. 残った誤分類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正確 / ほぼ正確 / 不正確の境界が主な残課題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298448"/>
            <a:ext cx="512064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38752"/>
            <a:ext cx="4974336" cy="3907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72200" y="1325880"/>
            <a:ext cx="4206240" cy="31089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200" b="1">
                <a:solidFill>
                  <a:srgbClr val="183048"/>
                </a:solidFill>
                <a:latin typeface="Yu Gothic"/>
              </a:rPr>
              <a:t>残ミスマッチ: 10件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883664"/>
            <a:ext cx="47091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02536"/>
            <a:ext cx="29260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1B232B"/>
                </a:solidFill>
                <a:latin typeface="Yu Gothic"/>
              </a:rPr>
              <a:t>ほぼ正確 → 正確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002536"/>
            <a:ext cx="566928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1300" b="1">
                <a:solidFill>
                  <a:srgbClr val="CF732F"/>
                </a:solidFill>
                <a:latin typeface="Yu Gothic"/>
              </a:rPr>
              <a:t>4件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542032"/>
            <a:ext cx="47091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60904"/>
            <a:ext cx="29260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1B232B"/>
                </a:solidFill>
                <a:latin typeface="Yu Gothic"/>
              </a:rPr>
              <a:t>不正確 → ほぼ正確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660904"/>
            <a:ext cx="566928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1300" b="1">
                <a:solidFill>
                  <a:srgbClr val="CF732F"/>
                </a:solidFill>
                <a:latin typeface="Yu Gothic"/>
              </a:rPr>
              <a:t>2件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200400"/>
            <a:ext cx="47091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19272"/>
            <a:ext cx="29260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1B232B"/>
                </a:solidFill>
                <a:latin typeface="Yu Gothic"/>
              </a:rPr>
              <a:t>ほぼ正確 → 不正確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319272"/>
            <a:ext cx="566928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1300" b="1">
                <a:solidFill>
                  <a:srgbClr val="CF732F"/>
                </a:solidFill>
                <a:latin typeface="Yu Gothic"/>
              </a:rPr>
              <a:t>1件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858768"/>
            <a:ext cx="47091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29260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1B232B"/>
                </a:solidFill>
                <a:latin typeface="Yu Gothic"/>
              </a:rPr>
              <a:t>判断保留 → 不正確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977639"/>
            <a:ext cx="566928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1300" b="1">
                <a:solidFill>
                  <a:srgbClr val="CF732F"/>
                </a:solidFill>
                <a:latin typeface="Yu Gothic"/>
              </a:rPr>
              <a:t>1件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517136"/>
            <a:ext cx="4709160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636007"/>
            <a:ext cx="29260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1B232B"/>
                </a:solidFill>
                <a:latin typeface="Yu Gothic"/>
              </a:rPr>
              <a:t>不正確 → 誤り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636007"/>
            <a:ext cx="566928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1300" b="1">
                <a:solidFill>
                  <a:srgbClr val="CF732F"/>
                </a:solidFill>
                <a:latin typeface="Yu Gothic"/>
              </a:rPr>
              <a:t>1件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76672"/>
            <a:ext cx="48006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5A6570"/>
                </a:solidFill>
                <a:latin typeface="Yu Gothic"/>
              </a:rPr>
              <a:t>今後は固有名詞パッチではなく、境界判定の構造ルールとして改善する。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4. バージョン比較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保存済み評価ではVer4が最も高い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10332720" cy="65836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18488"/>
            <a:ext cx="91440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183048"/>
                </a:solidFill>
                <a:latin typeface="Yu Gothic"/>
              </a:rPr>
              <a:t>Ver2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572768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591056"/>
            <a:ext cx="3246120" cy="1463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591056"/>
            <a:ext cx="2726740" cy="146304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563624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84.0%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72768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Macro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591056"/>
            <a:ext cx="3246120" cy="1463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0" y="1591056"/>
            <a:ext cx="2718300" cy="146304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53928" y="1563624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83.7%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359152"/>
            <a:ext cx="10332720" cy="65836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91440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0F7C80"/>
                </a:solidFill>
                <a:latin typeface="Yu Gothic"/>
              </a:rPr>
              <a:t>Ver3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514600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532888"/>
            <a:ext cx="3246120" cy="1463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2532888"/>
            <a:ext cx="2596896" cy="146304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2505456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80.0%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Macro 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2532888"/>
            <a:ext cx="3246120" cy="1463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0" y="2532888"/>
            <a:ext cx="2560539" cy="146304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53928" y="2505456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78.9%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300984"/>
            <a:ext cx="10332720" cy="658368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502152"/>
            <a:ext cx="91440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3D8F63"/>
                </a:solidFill>
                <a:latin typeface="Yu Gothic"/>
              </a:rPr>
              <a:t>Ver4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456432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474720"/>
            <a:ext cx="3246120" cy="1463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7560" y="3474720"/>
            <a:ext cx="2921508" cy="146304"/>
          </a:xfrm>
          <a:prstGeom prst="rect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3447288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90.0%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56432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Macro F1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3474720"/>
            <a:ext cx="3246120" cy="1463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80" y="3474720"/>
            <a:ext cx="2917937" cy="146304"/>
          </a:xfrm>
          <a:prstGeom prst="rect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53928" y="3447288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89.9%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242816"/>
            <a:ext cx="10332720" cy="65836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443984"/>
            <a:ext cx="91440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CF732F"/>
                </a:solidFill>
                <a:latin typeface="Yu Gothic"/>
              </a:rPr>
              <a:t>Ver5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398264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Accuracy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4416552"/>
            <a:ext cx="3246120" cy="1463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37560" y="4416552"/>
            <a:ext cx="2434590" cy="146304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4389120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75.0%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98264"/>
            <a:ext cx="96012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1B232B"/>
                </a:solidFill>
                <a:latin typeface="Yu Gothic"/>
              </a:rPr>
              <a:t>Macro F1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4416552"/>
            <a:ext cx="3246120" cy="146304"/>
          </a:xfrm>
          <a:prstGeom prst="rect">
            <a:avLst/>
          </a:prstGeom>
          <a:solidFill>
            <a:srgbClr val="E5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0" y="4416552"/>
            <a:ext cx="2425825" cy="146304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53928" y="4389120"/>
            <a:ext cx="59436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5A6570"/>
                </a:solidFill>
                <a:latin typeface="Yu Gothic"/>
              </a:rPr>
              <a:t>74.7%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596128"/>
            <a:ext cx="10378440" cy="31089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500" b="1">
                <a:solidFill>
                  <a:srgbClr val="B63F3F"/>
                </a:solidFill>
                <a:latin typeface="Yu Gothic"/>
              </a:rPr>
              <a:t>注意: 既存100件での評価結果。未知データへの汎化性能はblind testで確認する必要がある。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5. ビジネスインパクト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人の確認作業を置き換えるのではなく、優先順位づけを支援する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074920" cy="120700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6177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0F7C80"/>
                </a:solidFill>
                <a:latin typeface="Yu Gothic"/>
              </a:rPr>
              <a:t>一次スクリーニング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大量の投稿・記事から確認優先度の高いものを抽出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074920" cy="1207008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18488"/>
            <a:ext cx="46177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調査時間の短縮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5720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主張・理由・確認リンクをまとめ、ファクトチェックの初動を速くする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44952"/>
            <a:ext cx="5074920" cy="1207008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6177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説明責任の補助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45720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判定だけでなく、なぜそう見たかを文章で残せる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044952"/>
            <a:ext cx="5074920" cy="120700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46177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運用リスク低減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39312"/>
            <a:ext cx="45720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1B232B"/>
                </a:solidFill>
                <a:latin typeface="Yu Gothic"/>
              </a:rPr>
              <a:t>判断保留を残すことで、根拠不足の断定を避ける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102352"/>
            <a:ext cx="10104120" cy="74980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358384"/>
            <a:ext cx="96469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700" b="1">
                <a:solidFill>
                  <a:srgbClr val="183048"/>
                </a:solidFill>
                <a:latin typeface="Yu Gothic"/>
              </a:rPr>
              <a:t>活用場面: メディア監視、広報・危機管理、自治体や企業の情報確認フロー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6. 工夫点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精度だけでなく、説明しやすさと改善しやすさを重視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325880"/>
            <a:ext cx="1024128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45389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49961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1453896"/>
            <a:ext cx="96469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0F7C80"/>
                </a:solidFill>
                <a:latin typeface="Yu Gothic"/>
              </a:rPr>
              <a:t>評価bundle化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64792"/>
            <a:ext cx="9948672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JSON・CSV・XLSX・可視化を保存し、結果をあとから検証できる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313432"/>
            <a:ext cx="1024128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" y="2441448"/>
            <a:ext cx="310896" cy="310896"/>
          </a:xfrm>
          <a:prstGeom prst="ellipse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487168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2441448"/>
            <a:ext cx="96469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3D8F63"/>
                </a:solidFill>
                <a:latin typeface="Yu Gothic"/>
              </a:rPr>
              <a:t>5段階ラベル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752344"/>
            <a:ext cx="9948672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完全な正誤だけでなく、軽微差分と判断保留を扱える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300984"/>
            <a:ext cx="1024128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3429000"/>
            <a:ext cx="310896" cy="310896"/>
          </a:xfrm>
          <a:prstGeom prst="ellipse">
            <a:avLst/>
          </a:prstGeom>
          <a:solidFill>
            <a:srgbClr val="BF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474720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3429000"/>
            <a:ext cx="96469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BF9730"/>
                </a:solidFill>
                <a:latin typeface="Yu Gothic"/>
              </a:rPr>
              <a:t>エラー分析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39896"/>
            <a:ext cx="9948672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ミスマッチを境界パターンで分類し、改善対象を明確化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288536"/>
            <a:ext cx="1024128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" y="4416552"/>
            <a:ext cx="310896" cy="310896"/>
          </a:xfrm>
          <a:prstGeom prst="ellipse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4462272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4416552"/>
            <a:ext cx="964692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CF732F"/>
                </a:solidFill>
                <a:latin typeface="Yu Gothic"/>
              </a:rPr>
              <a:t>キャリブレーション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727448"/>
            <a:ext cx="9948672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モデル再学習ではなく、ラベルマッピングを改善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6. 今後さらに実施したいこと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既存100件をdev、新規100件をblind testとして使う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325880"/>
            <a:ext cx="10149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1453896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49961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6" y="1453896"/>
            <a:ext cx="955548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0F7C80"/>
                </a:solidFill>
                <a:latin typeface="Yu Gothic"/>
              </a:rPr>
              <a:t>既存100件をdevセット化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1764792"/>
            <a:ext cx="9857232" cy="5486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現在の改善効果を継続確認する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194560"/>
            <a:ext cx="10149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848" y="2322576"/>
            <a:ext cx="310896" cy="310896"/>
          </a:xfrm>
          <a:prstGeom prst="ellipse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36829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3896" y="2322576"/>
            <a:ext cx="955548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3D8F63"/>
                </a:solidFill>
                <a:latin typeface="Yu Gothic"/>
              </a:rPr>
              <a:t>新規blind 100件を作成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2633472"/>
            <a:ext cx="9857232" cy="5486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未知データでの実力を測る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063239"/>
            <a:ext cx="10149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9848" y="3191255"/>
            <a:ext cx="310896" cy="310896"/>
          </a:xfrm>
          <a:prstGeom prst="ellipse">
            <a:avLst/>
          </a:prstGeom>
          <a:solidFill>
            <a:srgbClr val="BF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236975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3896" y="3191255"/>
            <a:ext cx="955548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BF9730"/>
                </a:solidFill>
                <a:latin typeface="Yu Gothic"/>
              </a:rPr>
              <a:t>Ver2/3/4/5を同条件で評価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" y="3502151"/>
            <a:ext cx="9857232" cy="5486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方式差を公平に比較する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931920"/>
            <a:ext cx="10149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9848" y="4059936"/>
            <a:ext cx="310896" cy="310896"/>
          </a:xfrm>
          <a:prstGeom prst="ellipse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10565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3896" y="4059936"/>
            <a:ext cx="955548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CF732F"/>
                </a:solidFill>
                <a:latin typeface="Yu Gothic"/>
              </a:rPr>
              <a:t>構造ルールで改善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" y="4370832"/>
            <a:ext cx="9857232" cy="5486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固有名詞単位の過学習を避ける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800600"/>
            <a:ext cx="1014984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9848" y="4928616"/>
            <a:ext cx="310896" cy="310896"/>
          </a:xfrm>
          <a:prstGeom prst="ellipse">
            <a:avLst/>
          </a:prstGeom>
          <a:solidFill>
            <a:srgbClr val="B6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974336"/>
            <a:ext cx="310896" cy="14630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3896" y="4928616"/>
            <a:ext cx="955548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B63F3F"/>
                </a:solidFill>
                <a:latin typeface="Yu Gothic"/>
              </a:rPr>
              <a:t>devとblindの両方で確認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" y="5239512"/>
            <a:ext cx="9857232" cy="5486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1B232B"/>
                </a:solidFill>
                <a:latin typeface="Yu Gothic"/>
              </a:rPr>
              <a:t>既存性能を落とさず一般化を狙う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869680" cy="40233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183048"/>
                </a:solidFill>
                <a:latin typeface="Yu 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969264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A6570"/>
                </a:solidFill>
                <a:latin typeface="Yu Gothic"/>
              </a:rPr>
              <a:t>Ver4は「確認支援ツール」としての実用性を高めた構成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106424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444752"/>
            <a:ext cx="10149840" cy="1097280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755648"/>
            <a:ext cx="9674352" cy="31089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200" b="1">
                <a:solidFill>
                  <a:srgbClr val="183048"/>
                </a:solidFill>
                <a:latin typeface="Yu Gothic"/>
              </a:rPr>
              <a:t>既存LLM + 外部根拠確認 + ルールベース補正による真偽判定パイプライン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063240"/>
            <a:ext cx="9464040" cy="17830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GPTで文脈と論点を整理し、Geminiで外部根拠を確認する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真偽を二値ではなく5段階で扱い、中間ケースを表現する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改善の中心は、モデル再学習ではなく判定ロジックのキャリブレーション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次の課題は、新規blind testによる汎化性能の検証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632704"/>
            <a:ext cx="9829800" cy="34747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0F7C80"/>
                </a:solidFill>
                <a:latin typeface="Yu Gothic"/>
              </a:rPr>
              <a:t>発表では「文章だけでなく根拠と照合して判定する」点を強調する。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A6570"/>
                </a:solidFill>
                <a:latin typeface="Yu Gothic"/>
              </a:rPr>
              <a:t>Fake News Checker Ver4 | 分析アプローチ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A6570"/>
                </a:solidFill>
                <a:latin typeface="Yu Gothi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