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201168" cy="4754880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09728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datamix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481328"/>
            <a:ext cx="6126480" cy="7315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生成AI・機械学習エンジニア育成講座
卒業発表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6035040" cy="548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フェイクニュースチェッカー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98848"/>
            <a:ext cx="384048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400" b="0">
                <a:solidFill>
                  <a:srgbClr val="D5DBE1"/>
                </a:solidFill>
                <a:latin typeface="Yu Gothic"/>
              </a:rPr>
              <a:t>プレゼン資料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828032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600" b="0">
                <a:solidFill>
                  <a:srgbClr val="D5DBE1"/>
                </a:solidFill>
                <a:latin typeface="Yu Gothic"/>
              </a:rPr>
              <a:t>Fake News Checker / 2026年4月1日時点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138928"/>
            <a:ext cx="402336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600" b="0">
                <a:solidFill>
                  <a:srgbClr val="D5DBE1"/>
                </a:solidFill>
                <a:latin typeface="Yu Gothic"/>
              </a:rPr>
              <a:t>2025年7月期　中村隆之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68512" y="1097280"/>
            <a:ext cx="2697480" cy="4297680"/>
          </a:xfrm>
          <a:prstGeom prst="roundRect">
            <a:avLst/>
          </a:prstGeom>
          <a:solidFill>
            <a:srgbClr val="F2EEE5"/>
          </a:solidFill>
          <a:ln w="14604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79408" y="1481328"/>
            <a:ext cx="2011680" cy="25603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500" b="1">
                <a:solidFill>
                  <a:srgbClr val="626B76"/>
                </a:solidFill>
                <a:latin typeface="Yu Gothic"/>
              </a:rPr>
              <a:t>発表で扱う内容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1847088"/>
            <a:ext cx="2148840" cy="28803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課題と選んだ理由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使用したデータ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仮説とアプローチ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分析結果・考察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ビジネスインパクト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工夫点と今後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1. 課題と選んだ理由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誤った情報に踊らされず、正確な情報へ近づく支援を作る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89888"/>
            <a:ext cx="5349240" cy="45262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81344" y="1389888"/>
            <a:ext cx="5349240" cy="4526280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21031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社会的な背景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4663440" cy="32918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オールドメディアと呼ばれる既存メディアへの不信感が強まる一方で、X や YouTube など SNS の台頭により、マスメディアとは異なる情報が大量に流通している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2024年の兵庫県知事の辞職と再選という一連の騒動では、一方的な報道しかしないマスメディアへの不信感を強く意識した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世界情勢が不安定な時代だからこそ、戦時中にマスメディアが戦争を煽った歴史も踏まえ、誤った情報に流されない仕組みが必要だと考えた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1664208"/>
            <a:ext cx="237744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個人的に選んだ理由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663440" cy="32461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昔、誤った情報に騙されて痛い出費をした苦い過去があり、マスメディアに騙されたようで少し怒りを感じた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真偽を自分で確かめる力がなければ、強い言葉や一方的な報道に振り回されてしまうと実感した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だからこそ、断定の代行ではなく、正確な情報へ近づくための確認支援ツールを作りたいと考えた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4983480"/>
            <a:ext cx="1417320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37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82512" y="4983480"/>
            <a:ext cx="1417320" cy="73152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5148072"/>
            <a:ext cx="114300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入力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5367528"/>
            <a:ext cx="114300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URL / 本文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4983480"/>
            <a:ext cx="1325880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10144" y="4983480"/>
            <a:ext cx="1325880" cy="73152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47304" y="5148072"/>
            <a:ext cx="105156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出力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5367528"/>
            <a:ext cx="105156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5区分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28048" y="4983480"/>
            <a:ext cx="1719072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458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28048" y="4983480"/>
            <a:ext cx="1719072" cy="73152"/>
          </a:xfrm>
          <a:prstGeom prst="rect">
            <a:avLst/>
          </a:prstGeom>
          <a:solidFill>
            <a:srgbClr val="45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65208" y="5148072"/>
            <a:ext cx="1444752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目標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5208" y="5367528"/>
            <a:ext cx="1444752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正確な情報へ近づく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2. 使用したデータについて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balanced 100件の real_article_dataset_v2 を使って Ver2 / Ver3 を比較評価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3200400" cy="274320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069080" y="1481328"/>
            <a:ext cx="2880360" cy="2743200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59752" y="1481328"/>
            <a:ext cx="4352544" cy="274320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21031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800" b="1">
                <a:solidFill>
                  <a:srgbClr val="13767A"/>
                </a:solidFill>
                <a:latin typeface="Yu Gothic"/>
              </a:rPr>
              <a:t>dataset の概要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48256"/>
            <a:ext cx="2697480" cy="1783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ファイル: real_article_dataset_v2.json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件数: 100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curated_on: 2026-04-01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5区分は各20件で balanced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755648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800" b="1">
                <a:solidFill>
                  <a:srgbClr val="13767A"/>
                </a:solidFill>
                <a:latin typeface="Yu Gothic"/>
              </a:rPr>
              <a:t>スキーマ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9392" y="2048256"/>
            <a:ext cx="2194560" cy="1783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`id`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`expected_verdict`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`analysis_text`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`expected_domain`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755648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800" b="1">
                <a:solidFill>
                  <a:srgbClr val="13767A"/>
                </a:solidFill>
                <a:latin typeface="Yu Gothic"/>
              </a:rPr>
              <a:t>ドメイン分布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0064" y="2048256"/>
            <a:ext cx="3657600" cy="17830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一般: 67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医療: 13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金融: 10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災害: 6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F2A34"/>
                </a:solidFill>
                <a:latin typeface="Yu Gothic"/>
              </a:rPr>
              <a:t>政治: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4526280"/>
            <a:ext cx="10808208" cy="1051560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4736592"/>
            <a:ext cx="10332720" cy="5486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評価対象は記事全文ではなく analysis_text に要約した中心命題で、expected_verdict と expected_domain を直接比較できるようにしている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3. 初期仮説・分析アプローチ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ローカル一次判定と Gemini の外部根拠比較を組み合わせれば、境界ケースを改善できると考えた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6656" y="1444752"/>
            <a:ext cx="10826496" cy="1664208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37360"/>
            <a:ext cx="10287000" cy="10058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仮説1: 出典の有無、著者、日付、リンク数、表現の強さなどのヒューリスティックで危険度の目安は作れる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仮説2: 境界ケースは Gemini の google_search と url_context を使った外部根拠比較を加えることで改善できる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仮説3: 書き振り評価は真偽判定と分離した方が、煽り表現だけで誤判定するリスクを下げられる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94760"/>
            <a:ext cx="1828800" cy="1261872"/>
          </a:xfrm>
          <a:prstGeom prst="roundRect">
            <a:avLst/>
          </a:prstGeom>
          <a:solidFill>
            <a:srgbClr val="13767A"/>
          </a:solidFill>
          <a:ln w="14604">
            <a:solidFill>
              <a:srgbClr val="137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904488"/>
            <a:ext cx="1609344" cy="228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78808"/>
            <a:ext cx="1609344" cy="7589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URL または本文</a:t>
            </a:r>
          </a:p>
        </p:txBody>
      </p:sp>
      <p:sp>
        <p:nvSpPr>
          <p:cNvPr id="10" name="Chevron 9"/>
          <p:cNvSpPr/>
          <p:nvPr/>
        </p:nvSpPr>
        <p:spPr>
          <a:xfrm>
            <a:off x="2651760" y="4215384"/>
            <a:ext cx="320040" cy="310896"/>
          </a:xfrm>
          <a:prstGeom prst="chevron">
            <a:avLst/>
          </a:prstGeom>
          <a:solidFill>
            <a:srgbClr val="AFC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07792" y="3794760"/>
            <a:ext cx="1828800" cy="1261872"/>
          </a:xfrm>
          <a:prstGeom prst="roundRect">
            <a:avLst/>
          </a:prstGeom>
          <a:solidFill>
            <a:srgbClr val="C96D31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3904488"/>
            <a:ext cx="1609344" cy="228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ローカル一次判定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178808"/>
            <a:ext cx="1609344" cy="7589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risk / confidence / domain を推定</a:t>
            </a:r>
          </a:p>
        </p:txBody>
      </p:sp>
      <p:sp>
        <p:nvSpPr>
          <p:cNvPr id="14" name="Chevron 13"/>
          <p:cNvSpPr/>
          <p:nvPr/>
        </p:nvSpPr>
        <p:spPr>
          <a:xfrm>
            <a:off x="4846320" y="4215384"/>
            <a:ext cx="320040" cy="310896"/>
          </a:xfrm>
          <a:prstGeom prst="chevron">
            <a:avLst/>
          </a:prstGeom>
          <a:solidFill>
            <a:srgbClr val="DCC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02352" y="3794760"/>
            <a:ext cx="1828800" cy="1261872"/>
          </a:xfrm>
          <a:prstGeom prst="roundRect">
            <a:avLst/>
          </a:prstGeom>
          <a:solidFill>
            <a:srgbClr val="458E5F"/>
          </a:solidFill>
          <a:ln w="14604">
            <a:solidFill>
              <a:srgbClr val="458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0" y="3904488"/>
            <a:ext cx="1609344" cy="228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Gemini 比較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178808"/>
            <a:ext cx="1609344" cy="7589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外部根拠と反証を照合</a:t>
            </a:r>
          </a:p>
        </p:txBody>
      </p:sp>
      <p:sp>
        <p:nvSpPr>
          <p:cNvPr id="18" name="Chevron 17"/>
          <p:cNvSpPr/>
          <p:nvPr/>
        </p:nvSpPr>
        <p:spPr>
          <a:xfrm>
            <a:off x="7040880" y="4215384"/>
            <a:ext cx="320040" cy="310896"/>
          </a:xfrm>
          <a:prstGeom prst="chevron">
            <a:avLst/>
          </a:prstGeom>
          <a:solidFill>
            <a:srgbClr val="B7D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296912" y="3794760"/>
            <a:ext cx="1828800" cy="1261872"/>
          </a:xfrm>
          <a:prstGeom prst="roundRect">
            <a:avLst/>
          </a:prstGeom>
          <a:solidFill>
            <a:srgbClr val="C0912B"/>
          </a:solidFill>
          <a:ln w="14604">
            <a:solidFill>
              <a:srgbClr val="C09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0" y="3904488"/>
            <a:ext cx="1609344" cy="228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書き振り評価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178808"/>
            <a:ext cx="1609344" cy="7589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煽りや断定を別軸で評価</a:t>
            </a:r>
          </a:p>
        </p:txBody>
      </p:sp>
      <p:sp>
        <p:nvSpPr>
          <p:cNvPr id="22" name="Chevron 21"/>
          <p:cNvSpPr/>
          <p:nvPr/>
        </p:nvSpPr>
        <p:spPr>
          <a:xfrm>
            <a:off x="9235440" y="4215384"/>
            <a:ext cx="320040" cy="310896"/>
          </a:xfrm>
          <a:prstGeom prst="chevron">
            <a:avLst/>
          </a:prstGeom>
          <a:solidFill>
            <a:srgbClr val="DFD0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491472" y="3794760"/>
            <a:ext cx="1828800" cy="1261872"/>
          </a:xfrm>
          <a:prstGeom prst="roundRect">
            <a:avLst/>
          </a:prstGeom>
          <a:solidFill>
            <a:srgbClr val="B53D3D"/>
          </a:solidFill>
          <a:ln w="14604">
            <a:solidFill>
              <a:srgbClr val="B5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0" y="3904488"/>
            <a:ext cx="1609344" cy="228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出力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178808"/>
            <a:ext cx="1609344" cy="7589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5区分・理由・確認リンク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4. 分析結果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は Ver3 より少し改善したが、誤り recall 0.000 は共通課題として残っている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valu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72768"/>
            <a:ext cx="6355080" cy="39401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572768"/>
            <a:ext cx="3913632" cy="4407408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71231" y="1828800"/>
            <a:ext cx="1444752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37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71231" y="1828800"/>
            <a:ext cx="1444752" cy="73152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08391" y="1993392"/>
            <a:ext cx="1170432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Ver2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1" y="2212848"/>
            <a:ext cx="1170432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0.370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17152" y="1828800"/>
            <a:ext cx="1444752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217152" y="1828800"/>
            <a:ext cx="1444752" cy="73152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54312" y="1993392"/>
            <a:ext cx="1170432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Ver2 Macro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4312" y="2212848"/>
            <a:ext cx="1170432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0.266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2761488"/>
            <a:ext cx="1444752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37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571231" y="2761488"/>
            <a:ext cx="1444752" cy="73152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08391" y="2926080"/>
            <a:ext cx="1170432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Ver3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1" y="3145536"/>
            <a:ext cx="1170432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0.330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7152" y="2761488"/>
            <a:ext cx="1444752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17152" y="2761488"/>
            <a:ext cx="1444752" cy="73152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54312" y="2926080"/>
            <a:ext cx="1170432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Ver3 Macro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3145536"/>
            <a:ext cx="1170432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0.206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71231" y="3694176"/>
            <a:ext cx="1444752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5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71231" y="3694176"/>
            <a:ext cx="1444752" cy="73152"/>
          </a:xfrm>
          <a:prstGeom prst="rect">
            <a:avLst/>
          </a:prstGeom>
          <a:solidFill>
            <a:srgbClr val="B5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08391" y="3858768"/>
            <a:ext cx="1170432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誤り recall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8391" y="4078224"/>
            <a:ext cx="1170432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0.000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17152" y="3694176"/>
            <a:ext cx="1444752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458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217152" y="3694176"/>
            <a:ext cx="1444752" cy="73152"/>
          </a:xfrm>
          <a:prstGeom prst="rect">
            <a:avLst/>
          </a:prstGeom>
          <a:solidFill>
            <a:srgbClr val="45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54312" y="3858768"/>
            <a:ext cx="1170432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比較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4078224"/>
            <a:ext cx="1170432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Ver2優位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4681728"/>
            <a:ext cx="3246120" cy="9601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Ver2 は accuracy 0.370、macro F1 0.266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Ver3 は accuracy 0.330、macro F1 0.206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F2A34"/>
                </a:solidFill>
                <a:latin typeface="Yu Gothic"/>
              </a:rPr>
              <a:t>どちらも『誤り』を 1件も拾えていない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4. 考察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現在の Ver2 は『中間帯の検出』に寄りやすく、ラベルの両端を出し切れていない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27632"/>
            <a:ext cx="5029200" cy="3950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1609344"/>
            <a:ext cx="5230368" cy="44805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27648" y="1883664"/>
            <a:ext cx="237744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000" b="1">
                <a:solidFill>
                  <a:srgbClr val="C96D31"/>
                </a:solidFill>
                <a:latin typeface="Yu Gothic"/>
              </a:rPr>
              <a:t>主な誤判定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76272"/>
            <a:ext cx="4480560" cy="110286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dirty="0" err="1">
                <a:solidFill>
                  <a:srgbClr val="1F2A34"/>
                </a:solidFill>
                <a:latin typeface="Yu Gothic"/>
              </a:rPr>
              <a:t>正確</a:t>
            </a:r>
            <a:r>
              <a:rPr sz="1800" dirty="0">
                <a:solidFill>
                  <a:srgbClr val="1F2A34"/>
                </a:solidFill>
                <a:latin typeface="Yu Gothic"/>
              </a:rPr>
              <a:t> -&gt; </a:t>
            </a:r>
            <a:r>
              <a:rPr sz="1800" dirty="0" err="1">
                <a:solidFill>
                  <a:srgbClr val="1F2A34"/>
                </a:solidFill>
                <a:latin typeface="Yu Gothic"/>
              </a:rPr>
              <a:t>ほぼ正確</a:t>
            </a:r>
            <a:r>
              <a:rPr sz="1800" dirty="0">
                <a:solidFill>
                  <a:srgbClr val="1F2A34"/>
                </a:solidFill>
                <a:latin typeface="Yu Gothic"/>
              </a:rPr>
              <a:t>: 20件</a:t>
            </a:r>
          </a:p>
          <a:p>
            <a:pPr algn="l">
              <a:spcAft>
                <a:spcPts val="700"/>
              </a:spcAft>
            </a:pPr>
            <a:r>
              <a:rPr sz="1800" dirty="0" err="1">
                <a:solidFill>
                  <a:srgbClr val="1F2A34"/>
                </a:solidFill>
                <a:latin typeface="Yu Gothic"/>
              </a:rPr>
              <a:t>判断保留</a:t>
            </a:r>
            <a:r>
              <a:rPr sz="1800" dirty="0">
                <a:solidFill>
                  <a:srgbClr val="1F2A34"/>
                </a:solidFill>
                <a:latin typeface="Yu Gothic"/>
              </a:rPr>
              <a:t> -&gt; </a:t>
            </a:r>
            <a:r>
              <a:rPr sz="1800" dirty="0" err="1">
                <a:solidFill>
                  <a:srgbClr val="1F2A34"/>
                </a:solidFill>
                <a:latin typeface="Yu Gothic"/>
              </a:rPr>
              <a:t>不正確</a:t>
            </a:r>
            <a:r>
              <a:rPr sz="1800" dirty="0">
                <a:solidFill>
                  <a:srgbClr val="1F2A34"/>
                </a:solidFill>
                <a:latin typeface="Yu Gothic"/>
              </a:rPr>
              <a:t>: 12件</a:t>
            </a:r>
          </a:p>
          <a:p>
            <a:pPr algn="l">
              <a:spcAft>
                <a:spcPts val="700"/>
              </a:spcAft>
            </a:pPr>
            <a:r>
              <a:rPr sz="1800" dirty="0" err="1">
                <a:solidFill>
                  <a:srgbClr val="1F2A34"/>
                </a:solidFill>
                <a:latin typeface="Yu Gothic"/>
              </a:rPr>
              <a:t>誤り</a:t>
            </a:r>
            <a:r>
              <a:rPr sz="1800" dirty="0">
                <a:solidFill>
                  <a:srgbClr val="1F2A34"/>
                </a:solidFill>
                <a:latin typeface="Yu Gothic"/>
              </a:rPr>
              <a:t> -&gt; </a:t>
            </a:r>
            <a:r>
              <a:rPr lang="ja-JP" altLang="en-US" sz="1800" dirty="0">
                <a:solidFill>
                  <a:srgbClr val="1F2A3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判断保留</a:t>
            </a:r>
            <a:r>
              <a:rPr lang="en-US" altLang="ja-JP" sz="1800" dirty="0">
                <a:solidFill>
                  <a:srgbClr val="1F2A3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: 9</a:t>
            </a:r>
            <a:r>
              <a:rPr lang="ja-JP" altLang="en-US" sz="1800" dirty="0">
                <a:solidFill>
                  <a:srgbClr val="1F2A3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件 </a:t>
            </a:r>
            <a:r>
              <a:rPr sz="1800" dirty="0" err="1">
                <a:solidFill>
                  <a:srgbClr val="1F2A34"/>
                </a:solidFill>
                <a:latin typeface="Yu Gothic"/>
              </a:rPr>
              <a:t>不正確</a:t>
            </a:r>
            <a:r>
              <a:rPr sz="1800" dirty="0">
                <a:solidFill>
                  <a:srgbClr val="1F2A34"/>
                </a:solidFill>
                <a:latin typeface="Yu Gothic"/>
              </a:rPr>
              <a:t>: 11件</a:t>
            </a:r>
            <a:r>
              <a:rPr lang="ja-JP" altLang="en-US" sz="1800" dirty="0">
                <a:solidFill>
                  <a:srgbClr val="1F2A34"/>
                </a:solidFill>
                <a:latin typeface="Yu Gothic"/>
              </a:rPr>
              <a:t>　</a:t>
            </a:r>
            <a:endParaRPr sz="1800" dirty="0">
              <a:solidFill>
                <a:srgbClr val="1F2A34"/>
              </a:solidFill>
              <a:latin typeface="Yu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27648" y="3703320"/>
            <a:ext cx="237744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考察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005072"/>
            <a:ext cx="4480560" cy="1508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正確を『正確』へ戻せず、すべて『ほぼ正確』へ寄せている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誤りを『判断保留』や『不正確』へ逃がし、危険側へ押し切れていない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直近 tune4 の境界調整は改善せず、evidence の重み付け見直しが必要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5. ビジネスインパクト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現時点では『自動判定ツール』より『説明付き確認支援ツール』として価値が高い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4672" y="1664208"/>
            <a:ext cx="3246120" cy="93268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37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4672" y="1664208"/>
            <a:ext cx="3246120" cy="73152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28800"/>
            <a:ext cx="297180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個人向け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48256"/>
            <a:ext cx="297180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投稿前セルフチェック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664208"/>
            <a:ext cx="3246120" cy="93268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C9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62272" y="1664208"/>
            <a:ext cx="3246120" cy="73152"/>
          </a:xfrm>
          <a:prstGeom prst="rect">
            <a:avLst/>
          </a:prstGeom>
          <a:solidFill>
            <a:srgbClr val="C96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828800"/>
            <a:ext cx="2971800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組織向け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048256"/>
            <a:ext cx="297180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一次仕分けと優先順位付け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64208"/>
            <a:ext cx="3182112" cy="93268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458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19872" y="1664208"/>
            <a:ext cx="3182112" cy="73152"/>
          </a:xfrm>
          <a:prstGeom prst="rect">
            <a:avLst/>
          </a:prstGeom>
          <a:solidFill>
            <a:srgbClr val="45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1828800"/>
            <a:ext cx="2907792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0">
                <a:solidFill>
                  <a:srgbClr val="626B76"/>
                </a:solidFill>
                <a:latin typeface="Yu Gothic"/>
              </a:rPr>
              <a:t>教育向け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048256"/>
            <a:ext cx="2907792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200" b="1">
                <a:solidFill>
                  <a:srgbClr val="1F2A34"/>
                </a:solidFill>
                <a:latin typeface="Yu Gothic"/>
              </a:rPr>
              <a:t>メディアリテラシー支援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2926080"/>
            <a:ext cx="10469880" cy="2743200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200400"/>
            <a:ext cx="9966960" cy="20116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5区分 verdict に加え、理由・確認リンク・attention score を返すので、利用者が次の確認行動を取りやすい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自治体、学校、メディア運用では『まず人が見るべき候補』を絞る補助として使える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ただし 2026-04-01 時点では誤り recall が 0.000 のため、単独の自動ジャッジ用途にはまだ不十分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1F2A34"/>
                </a:solidFill>
                <a:latin typeface="Yu Gothic"/>
              </a:rPr>
              <a:t>価値の中心は、断定の代行ではなく、確認コストの削減と注意喚起にある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6. 工夫点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評価可能な形に落とし込み、レビューしやすい運用まで整えた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6656" y="1481328"/>
            <a:ext cx="5394960" cy="45262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72784" y="1481328"/>
            <a:ext cx="5212080" cy="4526280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201168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設計面の工夫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66543"/>
            <a:ext cx="4663440" cy="1965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真偽判定と書き振り評価を分離し、煽り表現だけで真偽を決めない設計にした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dataset_runner / evaluation / plot をつなぎ、同じ dataset で改善前後を比較できるようにした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Gemini が失敗してもローカル判定へフォールバックして止まらないようにした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70832"/>
            <a:ext cx="25603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000" b="1">
                <a:solidFill>
                  <a:srgbClr val="C96D31"/>
                </a:solidFill>
                <a:latin typeface="Yu Gothic"/>
              </a:rPr>
              <a:t>運用面の工夫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663440"/>
            <a:ext cx="4617720" cy="914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evaluation_outputs では 5 plots を必須で出す運用にした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predictions JSON / eval JSON / plots / CSV / XLSX を同じ timestamp フォルダへまとめた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export_evaluation_bundle.ps1 で評価一式をまとめて再生成できるようにした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3952" y="1783080"/>
            <a:ext cx="2011680" cy="14173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evalu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856232"/>
            <a:ext cx="1865376" cy="1033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65392" y="2953512"/>
            <a:ext cx="1828800" cy="137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000" b="1">
                <a:solidFill>
                  <a:srgbClr val="626B76"/>
                </a:solidFill>
                <a:latin typeface="Yu Gothic"/>
              </a:rPr>
              <a:t>evaluation_dashboard.png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50224" y="1783080"/>
            <a:ext cx="2011680" cy="14173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76" y="1856232"/>
            <a:ext cx="1865376" cy="10332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41664" y="2953512"/>
            <a:ext cx="1828800" cy="137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000" b="1">
                <a:solidFill>
                  <a:srgbClr val="626B76"/>
                </a:solidFill>
                <a:latin typeface="Yu Gothic"/>
              </a:rPr>
              <a:t>confusion_matrix.png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3401568"/>
            <a:ext cx="2011680" cy="14173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ummary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3474720"/>
            <a:ext cx="1865376" cy="1033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65392" y="4572000"/>
            <a:ext cx="1828800" cy="137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000" b="1">
                <a:solidFill>
                  <a:srgbClr val="626B76"/>
                </a:solidFill>
                <a:latin typeface="Yu Gothic"/>
              </a:rPr>
              <a:t>summary_metrics.png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50224" y="3401568"/>
            <a:ext cx="2011680" cy="14173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per_class_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76" y="3474720"/>
            <a:ext cx="1865376" cy="10332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41664" y="4572000"/>
            <a:ext cx="1828800" cy="137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000" b="1">
                <a:solidFill>
                  <a:srgbClr val="626B76"/>
                </a:solidFill>
                <a:latin typeface="Yu Gothic"/>
              </a:rPr>
              <a:t>per_class_metrics.png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29200"/>
            <a:ext cx="384048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200" b="1">
                <a:solidFill>
                  <a:srgbClr val="626B76"/>
                </a:solidFill>
                <a:latin typeface="Yu Gothic"/>
              </a:rPr>
              <a:t>必須 5 枚目の evaluation_overview.png も同じ bundle に保存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6. 今後さらに実施してみたいこと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を中心に、誤り経路の強化と正確ラベル復帰を次の改善テーマにする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4944" y="1572768"/>
            <a:ext cx="5321808" cy="449884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36208" y="1572768"/>
            <a:ext cx="5321808" cy="4498848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847088"/>
            <a:ext cx="25603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000" b="1">
                <a:solidFill>
                  <a:srgbClr val="13767A"/>
                </a:solidFill>
                <a:latin typeface="Yu Gothic"/>
              </a:rPr>
              <a:t>モデル改善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9696"/>
            <a:ext cx="4617720" cy="3108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反証ありケースから『誤り』へ落とす evidence 設計を見直す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正確なケースを『ほぼ正確』へ寄せすぎないよう、正確ラベル復帰の較正を進める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tune4 を基準比較し、必要なら一段前の閾値へ戻して差分を測る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847088"/>
            <a:ext cx="329184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000" b="1">
                <a:solidFill>
                  <a:srgbClr val="C96D31"/>
                </a:solidFill>
                <a:latin typeface="Yu Gothic"/>
              </a:rPr>
              <a:t>データと運用の拡張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39696"/>
            <a:ext cx="4617720" cy="31089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CSV / XLSX を使って誤判定をケース単位で見直し、ルール修正の根拠を増やす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時事性の高いケースや SNS 投稿に近いデータを追加し、実運用に近い評価へ広げる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発表では『今できていること』と『まだできていないこと』を分けて伝える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図の説明: summary_metrics.png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全体指標を見ると、Ver2 はまだ『誤り』検出で止まっている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ummar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72768"/>
            <a:ext cx="6309360" cy="41718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572768"/>
            <a:ext cx="3931920" cy="4434840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52944" y="1828800"/>
            <a:ext cx="25603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900" b="1">
                <a:solidFill>
                  <a:srgbClr val="13767A"/>
                </a:solidFill>
                <a:latin typeface="Yu Gothic"/>
              </a:rPr>
              <a:t>読み取りポイント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8" y="2139696"/>
            <a:ext cx="3291840" cy="2560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Accuracy は 0.370、Macro F1 は 0.266 にとどまっている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Weighted F1 も同じ 0.266 で、全体として強いクラス優位は作れていない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Binary Precision / Recall / F1 がすべて 0.000 で、誤りラベルを 1 件も当てられていない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つまり全体の課題は『誤情報を危険側へ押し切れないこと』に集約される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図の説明: per_class_metrics.png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クラスごとに見ると、両端ラベルが崩れて中間へ寄っている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6812280" cy="36681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572768"/>
            <a:ext cx="3611880" cy="44348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82127" y="1828800"/>
            <a:ext cx="25603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900" b="1">
                <a:solidFill>
                  <a:srgbClr val="13767A"/>
                </a:solidFill>
                <a:latin typeface="Yu Gothic"/>
              </a:rPr>
              <a:t>読み取りポイント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2139696"/>
            <a:ext cx="2926080" cy="2606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『正確』と『誤り』は Precision / Recall / F1 がすべて 0.000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『ほぼ正確』は Recall 0.900 と高く、正確側の多くをここへ吸収している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『不正確』は Recall 0.650 で、中間より危険側はある程度拾えている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結果として、モデルは白黒をつけず『ほぼ正確』『判断保留』『不正確』へ寄せやすい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図の説明: confusion_matrix.png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どのラベルへ流れているかを見ると、誤りを『判断保留』や『不正確』へ逃がしている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54480"/>
            <a:ext cx="5989320" cy="47046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86600" y="1572768"/>
            <a:ext cx="4160520" cy="4434840"/>
          </a:xfrm>
          <a:prstGeom prst="roundRect">
            <a:avLst/>
          </a:prstGeom>
          <a:solidFill>
            <a:srgbClr val="EAF3F1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3488" y="1828800"/>
            <a:ext cx="283464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900" b="1">
                <a:solidFill>
                  <a:srgbClr val="13767A"/>
                </a:solidFill>
                <a:latin typeface="Yu Gothic"/>
              </a:rPr>
              <a:t>読み取りポイント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96912" y="2139696"/>
            <a:ext cx="3383280" cy="2606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正確 20 件はすべて『ほぼ正確』へ流れている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誤り 20 件は『判断保留』9 件、『不正確』11 件へ分散している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判断保留 20 件のうち 12 件が『不正確』へ寄っており、灰色領域の扱いも不安定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この図から、閾値だけでなく evidence の使い方自体を見直す必要があると分かる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図の説明: evaluation_overview.png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集計サマリーからも、mismatch の多さと誤り検出の弱さが確認できる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valua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36192"/>
            <a:ext cx="4206240" cy="51756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572768"/>
            <a:ext cx="5440680" cy="4434840"/>
          </a:xfrm>
          <a:prstGeom prst="roundRect">
            <a:avLst/>
          </a:prstGeom>
          <a:solidFill>
            <a:srgbClr val="F3EEE5"/>
          </a:solidFill>
          <a:ln w="14604">
            <a:solidFill>
              <a:srgbClr val="D9D3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60" y="1828800"/>
            <a:ext cx="27432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900" b="1">
                <a:solidFill>
                  <a:srgbClr val="13767A"/>
                </a:solidFill>
                <a:latin typeface="Yu Gothic"/>
              </a:rPr>
              <a:t>読み取りポイント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139696"/>
            <a:ext cx="4663440" cy="2514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sample_count は 100、skipped_count は 0 なので、全件評価はできている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mismatches は 63 件あり、正解より不一致の方がかなり多い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Macro Avg precision 0.2131 / recall 0.3700 / f1 0.2659 で、総合性能はまだ改善余地が大きい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F2A34"/>
                </a:solidFill>
                <a:latin typeface="Yu Gothic"/>
              </a:rPr>
              <a:t>positive_label を『誤り』に置いた評価でも support 20 に対して成果が出ておらず、ここが次の最優先課題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参考資料: confusion_matrix.png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/ evaluation_outputs/20260401-1213/plots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17320"/>
            <a:ext cx="10149840" cy="79727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参考資料: evaluation_overview.png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/ evaluation_outputs/20260401-1213/plots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valua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325880"/>
            <a:ext cx="5943600" cy="7313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参考資料: per_class_metrics.png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/ evaluation_outputs/20260401-1213/plots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3040"/>
            <a:ext cx="10607040" cy="57114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412480" cy="43891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600" b="1">
                <a:solidFill>
                  <a:srgbClr val="1F2A34"/>
                </a:solidFill>
                <a:latin typeface="Yu Gothic"/>
              </a:rPr>
              <a:t>参考資料: summary_metrics.png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95528"/>
            <a:ext cx="896112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100" b="0">
                <a:solidFill>
                  <a:srgbClr val="626B76"/>
                </a:solidFill>
                <a:latin typeface="Yu Gothic"/>
              </a:rPr>
              <a:t>Ver2 / evaluation_outputs/20260401-1213/plots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51560"/>
            <a:ext cx="1463040" cy="64008"/>
          </a:xfrm>
          <a:prstGeom prst="rect">
            <a:avLst/>
          </a:prstGeom>
          <a:solidFill>
            <a:srgbClr val="13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ummar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10515600" cy="6953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28232"/>
            <a:ext cx="10972800" cy="182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626B76"/>
                </a:solidFill>
                <a:latin typeface="Yu Gothic"/>
              </a:rPr>
              <a:t>Fake News Checker | 2026-04-01 時点の運用・評価をもとに作成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962</Words>
  <Application>Microsoft Office PowerPoint</Application>
  <PresentationFormat>ワイド画面</PresentationFormat>
  <Paragraphs>179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2" baseType="lpstr">
      <vt:lpstr>Yu Gothic</vt:lpstr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隆之 中村</cp:lastModifiedBy>
  <cp:revision>2</cp:revision>
  <dcterms:created xsi:type="dcterms:W3CDTF">2013-01-27T09:14:16Z</dcterms:created>
  <dcterms:modified xsi:type="dcterms:W3CDTF">2026-04-01T10:49:30Z</dcterms:modified>
  <cp:category/>
</cp:coreProperties>
</file>