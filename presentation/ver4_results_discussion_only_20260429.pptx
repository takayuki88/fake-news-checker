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E8B0DF-DC6F-44ED-B28D-10D935357B5B}" v="8" dt="2026-04-28T23:34:36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隆之 中村" userId="9733118985f6bf19" providerId="LiveId" clId="{7E03243F-8E74-4492-ACEA-BA72F1FC6D56}"/>
    <pc:docChg chg="undo custSel modSld">
      <pc:chgData name="隆之 中村" userId="9733118985f6bf19" providerId="LiveId" clId="{7E03243F-8E74-4492-ACEA-BA72F1FC6D56}" dt="2026-04-28T23:37:13.601" v="70" actId="1076"/>
      <pc:docMkLst>
        <pc:docMk/>
      </pc:docMkLst>
      <pc:sldChg chg="addSp modSp mod">
        <pc:chgData name="隆之 中村" userId="9733118985f6bf19" providerId="LiveId" clId="{7E03243F-8E74-4492-ACEA-BA72F1FC6D56}" dt="2026-04-28T23:37:13.601" v="70" actId="1076"/>
        <pc:sldMkLst>
          <pc:docMk/>
          <pc:sldMk cId="0" sldId="258"/>
        </pc:sldMkLst>
        <pc:spChg chg="mod">
          <ac:chgData name="隆之 中村" userId="9733118985f6bf19" providerId="LiveId" clId="{7E03243F-8E74-4492-ACEA-BA72F1FC6D56}" dt="2026-04-28T23:29:38.946" v="4" actId="164"/>
          <ac:spMkLst>
            <pc:docMk/>
            <pc:sldMk cId="0" sldId="258"/>
            <ac:spMk id="7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29:38.946" v="4" actId="164"/>
          <ac:spMkLst>
            <pc:docMk/>
            <pc:sldMk cId="0" sldId="258"/>
            <ac:spMk id="8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3:18.309" v="31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3:07.168" v="29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2:54.145" v="27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3:21.987" v="3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3:26.330" v="35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3:29.396" v="36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3:38.193" v="39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2:48.415" v="26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5:59.383" v="64" actId="1410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4:10.517" v="41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2:36.004" v="23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2:41.286" v="24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2:44.611" v="25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5:49.553" v="63" actId="1410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5:20.597" v="57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4:27.652" v="43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4:40.743" v="52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4:45.582" v="53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5:30.710" v="58" actId="1410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5:16.951" v="56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6:09.327" v="65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6:20.609" v="66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6:25.967" v="67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7:05.828" v="68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隆之 中村" userId="9733118985f6bf19" providerId="LiveId" clId="{7E03243F-8E74-4492-ACEA-BA72F1FC6D56}" dt="2026-04-28T23:37:13.601" v="70" actId="1076"/>
          <ac:spMkLst>
            <pc:docMk/>
            <pc:sldMk cId="0" sldId="258"/>
            <ac:spMk id="34" creationId="{00000000-0000-0000-0000-000000000000}"/>
          </ac:spMkLst>
        </pc:spChg>
        <pc:spChg chg="add mod">
          <ac:chgData name="隆之 中村" userId="9733118985f6bf19" providerId="LiveId" clId="{7E03243F-8E74-4492-ACEA-BA72F1FC6D56}" dt="2026-04-28T23:34:36.672" v="51" actId="571"/>
          <ac:spMkLst>
            <pc:docMk/>
            <pc:sldMk cId="0" sldId="258"/>
            <ac:spMk id="40" creationId="{A6F1B8A3-4F11-10A1-C56A-77A75EDCD295}"/>
          </ac:spMkLst>
        </pc:spChg>
        <pc:grpChg chg="add mod">
          <ac:chgData name="隆之 中村" userId="9733118985f6bf19" providerId="LiveId" clId="{7E03243F-8E74-4492-ACEA-BA72F1FC6D56}" dt="2026-04-28T23:30:33.562" v="10" actId="14100"/>
          <ac:grpSpMkLst>
            <pc:docMk/>
            <pc:sldMk cId="0" sldId="258"/>
            <ac:grpSpMk id="37" creationId="{F61F06C4-238B-284F-C80C-48B8F1CB54D8}"/>
          </ac:grpSpMkLst>
        </pc:grpChg>
        <pc:grpChg chg="add mod">
          <ac:chgData name="隆之 中村" userId="9733118985f6bf19" providerId="LiveId" clId="{7E03243F-8E74-4492-ACEA-BA72F1FC6D56}" dt="2026-04-28T23:35:38.795" v="59" actId="14100"/>
          <ac:grpSpMkLst>
            <pc:docMk/>
            <pc:sldMk cId="0" sldId="258"/>
            <ac:grpSpMk id="38" creationId="{DDEEDC1E-B4FB-1CDD-5459-F534E5729695}"/>
          </ac:grpSpMkLst>
        </pc:grpChg>
        <pc:grpChg chg="add mod">
          <ac:chgData name="隆之 中村" userId="9733118985f6bf19" providerId="LiveId" clId="{7E03243F-8E74-4492-ACEA-BA72F1FC6D56}" dt="2026-04-28T23:32:14.803" v="20" actId="14100"/>
          <ac:grpSpMkLst>
            <pc:docMk/>
            <pc:sldMk cId="0" sldId="258"/>
            <ac:grpSpMk id="39" creationId="{784B6071-3CDA-2774-D52D-C6D2D4A4596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170432"/>
            <a:ext cx="914400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CDE5E3"/>
                </a:solidFill>
                <a:latin typeface="Yu Gothic"/>
              </a:rPr>
              <a:t>Fake News Checker Ver4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19072"/>
            <a:ext cx="9966960" cy="9601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Yu Gothic"/>
              </a:rPr>
              <a:t>4. 分析結果・考察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816352"/>
            <a:ext cx="8046720" cy="5029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000" b="0">
                <a:solidFill>
                  <a:srgbClr val="E8EEF4"/>
                </a:solidFill>
                <a:latin typeface="Yu Gothic"/>
              </a:rPr>
              <a:t>最新100件評価から見えた性能と残課題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2240280" cy="7315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4343400"/>
            <a:ext cx="2020824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90288"/>
            <a:ext cx="2020824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0F7C80"/>
                </a:solidFill>
                <a:latin typeface="Yu Gothic"/>
              </a:rPr>
              <a:t>90.0%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2240280" cy="73152"/>
          </a:xfrm>
          <a:prstGeom prst="rect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4343400"/>
            <a:ext cx="2020824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4590288"/>
            <a:ext cx="2020824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3D8F63"/>
                </a:solidFill>
                <a:latin typeface="Yu Gothic"/>
              </a:rPr>
              <a:t>89.9%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16052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0" y="4160520"/>
            <a:ext cx="2240280" cy="73152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79008" y="4343400"/>
            <a:ext cx="2020824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Mismatches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4590288"/>
            <a:ext cx="2020824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CF732F"/>
                </a:solidFill>
                <a:latin typeface="Yu Gothic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33872"/>
            <a:ext cx="3931920" cy="20116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D6E0E8"/>
                </a:solidFill>
                <a:latin typeface="Yu Gothic"/>
              </a:rP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評価設計と全体結果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100件のbalanced datasetで5段階分類を評価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32588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1325880"/>
            <a:ext cx="1965960" cy="73152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746504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1746504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183048"/>
                </a:solidFill>
                <a:latin typeface="Yu Gothic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1746504" cy="21031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0">
                <a:solidFill>
                  <a:srgbClr val="58636E"/>
                </a:solidFill>
                <a:latin typeface="Yu Gothic"/>
              </a:rPr>
              <a:t>5ラベル各20件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32588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07792" y="1325880"/>
            <a:ext cx="1965960" cy="7315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508760"/>
            <a:ext cx="1746504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755648"/>
            <a:ext cx="1746504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0F7C80"/>
                </a:solidFill>
                <a:latin typeface="Yu Gothic"/>
              </a:rPr>
              <a:t>90.0%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132588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02352" y="1325880"/>
            <a:ext cx="1965960" cy="73152"/>
          </a:xfrm>
          <a:prstGeom prst="rect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1508760"/>
            <a:ext cx="1746504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Macro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755648"/>
            <a:ext cx="1746504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3D8F63"/>
                </a:solidFill>
                <a:latin typeface="Yu Gothic"/>
              </a:rPr>
              <a:t>89.9%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132588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96912" y="1325880"/>
            <a:ext cx="1965960" cy="73152"/>
          </a:xfrm>
          <a:prstGeom prst="rect">
            <a:avLst/>
          </a:prstGeom>
          <a:solidFill>
            <a:srgbClr val="BF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1508760"/>
            <a:ext cx="1746504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Weighted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755648"/>
            <a:ext cx="1746504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BF9730"/>
                </a:solidFill>
                <a:latin typeface="Yu Gothic"/>
              </a:rPr>
              <a:t>89.9%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1325880"/>
            <a:ext cx="19659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91472" y="1325880"/>
            <a:ext cx="1965960" cy="73152"/>
          </a:xfrm>
          <a:prstGeom prst="rect">
            <a:avLst/>
          </a:prstGeom>
          <a:solidFill>
            <a:srgbClr val="B6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0" y="1508760"/>
            <a:ext cx="1746504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Skipped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755648"/>
            <a:ext cx="1746504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2400" b="1">
                <a:solidFill>
                  <a:srgbClr val="B63F3F"/>
                </a:solidFill>
                <a:latin typeface="Yu Gothic"/>
              </a:rP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2788920"/>
            <a:ext cx="530352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summar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847" y="2862072"/>
            <a:ext cx="3858289" cy="255117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327648" y="2788920"/>
            <a:ext cx="4983480" cy="2697480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090672"/>
            <a:ext cx="4498848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000" b="1">
                <a:solidFill>
                  <a:srgbClr val="183048"/>
                </a:solidFill>
                <a:latin typeface="Yu Gothic"/>
              </a:rPr>
              <a:t>結果の読み取り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3675887"/>
            <a:ext cx="4526280" cy="123444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100件中90件で期待ラベルと一致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5ラベル各20件なので、偏りに頼らない評価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rPr dirty="0"/>
              <a:t>• ミスマッチは10件に圧縮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469880" cy="25603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600" b="1" dirty="0">
                <a:solidFill>
                  <a:srgbClr val="183048"/>
                </a:solidFill>
                <a:latin typeface="Yu Gothic"/>
              </a:rPr>
              <a:t>全体として、5段階分類でも約90%の性能まで到達した。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4. 分析結果・考察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ラベル別性能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安定しているラベルと、境界が難しいラベルを分けて見る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261872"/>
            <a:ext cx="5257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4540"/>
            <a:ext cx="5111496" cy="2752344"/>
          </a:xfrm>
          <a:prstGeom prst="rect">
            <a:avLst/>
          </a:prstGeom>
        </p:spPr>
      </p:pic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F61F06C4-238B-284F-C80C-48B8F1CB54D8}"/>
              </a:ext>
            </a:extLst>
          </p:cNvPr>
          <p:cNvGrpSpPr/>
          <p:nvPr/>
        </p:nvGrpSpPr>
        <p:grpSpPr>
          <a:xfrm>
            <a:off x="6076188" y="1293876"/>
            <a:ext cx="5234940" cy="457200"/>
            <a:chOff x="841248" y="1353312"/>
            <a:chExt cx="10469880" cy="457200"/>
          </a:xfrm>
        </p:grpSpPr>
        <p:sp>
          <p:nvSpPr>
            <p:cNvPr id="7" name="Rounded Rectangle 6"/>
            <p:cNvSpPr/>
            <p:nvPr/>
          </p:nvSpPr>
          <p:spPr>
            <a:xfrm>
              <a:off x="841248" y="1353312"/>
              <a:ext cx="10469880" cy="457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6DC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78992" y="1472184"/>
              <a:ext cx="1280160" cy="146304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200" b="1">
                  <a:solidFill>
                    <a:srgbClr val="3D8F63"/>
                  </a:solidFill>
                  <a:latin typeface="Yu Gothic"/>
                </a:rPr>
                <a:t>正確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834640" y="1496864"/>
              <a:ext cx="2287752" cy="179536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Precision 83.3%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936208" y="1519576"/>
              <a:ext cx="1883664" cy="179536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Recall 100.0%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33688" y="1522476"/>
              <a:ext cx="1280160" cy="146304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F1 90.9%</a:t>
              </a:r>
            </a:p>
          </p:txBody>
        </p:sp>
      </p:grp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DDEEDC1E-B4FB-1CDD-5459-F534E5729695}"/>
              </a:ext>
            </a:extLst>
          </p:cNvPr>
          <p:cNvGrpSpPr/>
          <p:nvPr/>
        </p:nvGrpSpPr>
        <p:grpSpPr>
          <a:xfrm>
            <a:off x="6076188" y="1883664"/>
            <a:ext cx="5234940" cy="457200"/>
            <a:chOff x="841248" y="1883664"/>
            <a:chExt cx="10469880" cy="457200"/>
          </a:xfrm>
        </p:grpSpPr>
        <p:sp>
          <p:nvSpPr>
            <p:cNvPr id="12" name="Rounded Rectangle 11"/>
            <p:cNvSpPr/>
            <p:nvPr/>
          </p:nvSpPr>
          <p:spPr>
            <a:xfrm>
              <a:off x="841248" y="1883664"/>
              <a:ext cx="10469880" cy="457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6DC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78992" y="2002536"/>
              <a:ext cx="1482520" cy="210314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200" b="1" dirty="0" err="1">
                  <a:solidFill>
                    <a:srgbClr val="0F7C80"/>
                  </a:solidFill>
                  <a:latin typeface="Yu Gothic"/>
                </a:rPr>
                <a:t>ほぼ正確</a:t>
              </a:r>
              <a:endParaRPr sz="1200" b="1" dirty="0">
                <a:solidFill>
                  <a:srgbClr val="0F7C80"/>
                </a:solidFill>
                <a:latin typeface="Yu Gothic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34639" y="2002536"/>
              <a:ext cx="2133866" cy="179536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Precision 88.2%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27215" y="2008632"/>
              <a:ext cx="1940198" cy="179536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Recall 75.0%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45329" y="2052828"/>
              <a:ext cx="1280160" cy="146304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F1 81.1%</a:t>
              </a: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6076188" y="2414016"/>
            <a:ext cx="52349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784B6071-3CDA-2774-D52D-C6D2D4A45964}"/>
              </a:ext>
            </a:extLst>
          </p:cNvPr>
          <p:cNvGrpSpPr/>
          <p:nvPr/>
        </p:nvGrpSpPr>
        <p:grpSpPr>
          <a:xfrm>
            <a:off x="6195060" y="2565586"/>
            <a:ext cx="4841748" cy="195909"/>
            <a:chOff x="1029504" y="2528850"/>
            <a:chExt cx="5823199" cy="150341"/>
          </a:xfrm>
        </p:grpSpPr>
        <p:sp>
          <p:nvSpPr>
            <p:cNvPr id="18" name="TextBox 17"/>
            <p:cNvSpPr txBox="1"/>
            <p:nvPr/>
          </p:nvSpPr>
          <p:spPr>
            <a:xfrm>
              <a:off x="1029504" y="2528850"/>
              <a:ext cx="1280160" cy="146304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200" b="1" dirty="0" err="1">
                  <a:solidFill>
                    <a:srgbClr val="BF9730"/>
                  </a:solidFill>
                  <a:latin typeface="Yu Gothic"/>
                </a:rPr>
                <a:t>判断保留</a:t>
              </a:r>
              <a:endParaRPr sz="1200" b="1" dirty="0">
                <a:solidFill>
                  <a:srgbClr val="BF9730"/>
                </a:solidFill>
                <a:latin typeface="Yu Gothic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085268" y="2532887"/>
              <a:ext cx="1590684" cy="137777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Precision 100.0%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40999" y="2532887"/>
              <a:ext cx="1280160" cy="146304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Recall 95.0%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72543" y="2532887"/>
              <a:ext cx="1280160" cy="146304"/>
            </a:xfrm>
            <a:prstGeom prst="rect">
              <a:avLst/>
            </a:prstGeom>
            <a:noFill/>
          </p:spPr>
          <p:txBody>
            <a:bodyPr wrap="square" lIns="38100" tIns="12700" rIns="38100" bIns="1270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58636E"/>
                  </a:solidFill>
                  <a:latin typeface="Yu Gothic"/>
                </a:rPr>
                <a:t>F1 97.4%</a:t>
              </a:r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6076188" y="2944368"/>
            <a:ext cx="52349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95060" y="3081528"/>
            <a:ext cx="128016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1" dirty="0" err="1">
                <a:solidFill>
                  <a:srgbClr val="CF732F"/>
                </a:solidFill>
                <a:latin typeface="Yu Gothic"/>
              </a:rPr>
              <a:t>不正確</a:t>
            </a:r>
            <a:endParaRPr sz="1200" b="1" dirty="0">
              <a:solidFill>
                <a:srgbClr val="CF732F"/>
              </a:solidFill>
              <a:latin typeface="Yu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77456" y="3088852"/>
            <a:ext cx="128016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 dirty="0">
                <a:solidFill>
                  <a:srgbClr val="58636E"/>
                </a:solidFill>
                <a:latin typeface="Yu Gothic"/>
              </a:rPr>
              <a:t>Precision 85.0%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9492" y="3088852"/>
            <a:ext cx="128016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 dirty="0">
                <a:solidFill>
                  <a:srgbClr val="58636E"/>
                </a:solidFill>
                <a:latin typeface="Yu Gothic"/>
              </a:rPr>
              <a:t>Recall 85.0%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5203" y="3088852"/>
            <a:ext cx="128016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 dirty="0">
                <a:solidFill>
                  <a:srgbClr val="58636E"/>
                </a:solidFill>
                <a:latin typeface="Yu Gothic"/>
              </a:rPr>
              <a:t>F1 85.0%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6188" y="3474720"/>
            <a:ext cx="52349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95060" y="3609594"/>
            <a:ext cx="128016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1" dirty="0" err="1">
                <a:solidFill>
                  <a:srgbClr val="B63F3F"/>
                </a:solidFill>
                <a:latin typeface="Yu Gothic"/>
              </a:rPr>
              <a:t>誤り</a:t>
            </a:r>
            <a:endParaRPr sz="1200" b="1" dirty="0">
              <a:solidFill>
                <a:srgbClr val="B63F3F"/>
              </a:solidFill>
              <a:latin typeface="Yu Gothi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72884" y="3593592"/>
            <a:ext cx="128016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 dirty="0">
                <a:solidFill>
                  <a:srgbClr val="58636E"/>
                </a:solidFill>
                <a:latin typeface="Yu Gothic"/>
              </a:rPr>
              <a:t>Precision 95.0%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89492" y="3609594"/>
            <a:ext cx="128016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 dirty="0">
                <a:solidFill>
                  <a:srgbClr val="58636E"/>
                </a:solidFill>
                <a:latin typeface="Yu Gothic"/>
              </a:rPr>
              <a:t>Recall 95.0%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8229" y="3609594"/>
            <a:ext cx="128016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 dirty="0">
                <a:solidFill>
                  <a:srgbClr val="58636E"/>
                </a:solidFill>
                <a:latin typeface="Yu Gothic"/>
              </a:rPr>
              <a:t>F1 95.0%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352544"/>
            <a:ext cx="5074920" cy="1170432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4512564"/>
            <a:ext cx="4572000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 dirty="0" err="1">
                <a:solidFill>
                  <a:srgbClr val="0F7C80"/>
                </a:solidFill>
                <a:latin typeface="Yu Gothic"/>
              </a:rPr>
              <a:t>考察</a:t>
            </a:r>
            <a:endParaRPr sz="1700" b="1" dirty="0">
              <a:solidFill>
                <a:srgbClr val="0F7C80"/>
              </a:solidFill>
              <a:latin typeface="Yu Gothi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20548" y="4901516"/>
            <a:ext cx="4526280" cy="456535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400" b="0" dirty="0" err="1">
                <a:solidFill>
                  <a:srgbClr val="1B232B"/>
                </a:solidFill>
                <a:latin typeface="Yu Gothic"/>
              </a:rPr>
              <a:t>正確・判断保留・誤りは安定。一方で、ほぼ正確と不正確は境界判定が難しい</a:t>
            </a:r>
            <a:r>
              <a:rPr sz="1400" b="0" dirty="0">
                <a:solidFill>
                  <a:srgbClr val="1B232B"/>
                </a:solidFill>
                <a:latin typeface="Yu Gothic"/>
              </a:rPr>
              <a:t>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4. 分析結果・考察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 dirty="0" err="1">
                <a:solidFill>
                  <a:srgbClr val="183048"/>
                </a:solidFill>
                <a:latin typeface="Yu Gothic"/>
              </a:rPr>
              <a:t>混同行列と主な誤分類</a:t>
            </a:r>
            <a:endParaRPr sz="2500" b="1" dirty="0">
              <a:solidFill>
                <a:srgbClr val="183048"/>
              </a:solidFill>
              <a:latin typeface="Yu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 dirty="0">
                <a:solidFill>
                  <a:srgbClr val="58636E"/>
                </a:solidFill>
                <a:latin typeface="Yu Gothic"/>
              </a:rPr>
              <a:t>残ミスマッチ10件は中間ラベルの境界に集中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8368" y="1261872"/>
            <a:ext cx="5257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03170"/>
            <a:ext cx="5111496" cy="40150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353312"/>
            <a:ext cx="438912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100" b="1">
                <a:solidFill>
                  <a:srgbClr val="183048"/>
                </a:solidFill>
                <a:latin typeface="Yu Gothic"/>
              </a:rPr>
              <a:t>主なミスマッチ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4709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47104" y="2039112"/>
            <a:ext cx="292608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1">
                <a:solidFill>
                  <a:srgbClr val="1B232B"/>
                </a:solidFill>
                <a:latin typeface="Yu Gothic"/>
              </a:rPr>
              <a:t>ほぼ正確 → 正確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1552" y="2039112"/>
            <a:ext cx="56692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1200" b="1">
                <a:solidFill>
                  <a:srgbClr val="CF732F"/>
                </a:solidFill>
                <a:latin typeface="Yu Gothic"/>
              </a:rPr>
              <a:t>4件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87168"/>
            <a:ext cx="4709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7104" y="2606040"/>
            <a:ext cx="292608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1">
                <a:solidFill>
                  <a:srgbClr val="1B232B"/>
                </a:solidFill>
                <a:latin typeface="Yu Gothic"/>
              </a:rPr>
              <a:t>不正確 → ほぼ正確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1552" y="2606040"/>
            <a:ext cx="56692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1200" b="1">
                <a:solidFill>
                  <a:srgbClr val="CF732F"/>
                </a:solidFill>
                <a:latin typeface="Yu Gothic"/>
              </a:rPr>
              <a:t>2件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054096"/>
            <a:ext cx="4709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3172968"/>
            <a:ext cx="292608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1">
                <a:solidFill>
                  <a:srgbClr val="1B232B"/>
                </a:solidFill>
                <a:latin typeface="Yu Gothic"/>
              </a:rPr>
              <a:t>ほぼ正確 → 不正確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1552" y="3172968"/>
            <a:ext cx="56692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1200" b="1">
                <a:solidFill>
                  <a:srgbClr val="CF732F"/>
                </a:solidFill>
                <a:latin typeface="Yu Gothic"/>
              </a:rPr>
              <a:t>1件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21024"/>
            <a:ext cx="4709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7104" y="3739896"/>
            <a:ext cx="292608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1">
                <a:solidFill>
                  <a:srgbClr val="1B232B"/>
                </a:solidFill>
                <a:latin typeface="Yu Gothic"/>
              </a:rPr>
              <a:t>判断保留 → 不正確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3739896"/>
            <a:ext cx="56692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1200" b="1">
                <a:solidFill>
                  <a:srgbClr val="CF732F"/>
                </a:solidFill>
                <a:latin typeface="Yu Gothic"/>
              </a:rPr>
              <a:t>1件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87952"/>
            <a:ext cx="4709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47104" y="4306824"/>
            <a:ext cx="292608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1">
                <a:solidFill>
                  <a:srgbClr val="1B232B"/>
                </a:solidFill>
                <a:latin typeface="Yu Gothic"/>
              </a:rPr>
              <a:t>不正確 → 誤り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4306824"/>
            <a:ext cx="56692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1200" b="1">
                <a:solidFill>
                  <a:srgbClr val="CF732F"/>
                </a:solidFill>
                <a:latin typeface="Yu Gothic"/>
              </a:rPr>
              <a:t>1件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754880"/>
            <a:ext cx="470916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47104" y="4873752"/>
            <a:ext cx="2926080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1">
                <a:solidFill>
                  <a:srgbClr val="1B232B"/>
                </a:solidFill>
                <a:latin typeface="Yu Gothic"/>
              </a:rPr>
              <a:t>誤り → 不正確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2" y="4873752"/>
            <a:ext cx="566928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1200" b="1">
                <a:solidFill>
                  <a:srgbClr val="CF732F"/>
                </a:solidFill>
                <a:latin typeface="Yu Gothic"/>
              </a:rPr>
              <a:t>1件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394960"/>
            <a:ext cx="4800600" cy="310896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300" b="0">
                <a:solidFill>
                  <a:srgbClr val="58636E"/>
                </a:solidFill>
                <a:latin typeface="Yu Gothic"/>
              </a:rPr>
              <a:t>特に「ほぼ正確 → 正確」が4件あり、軽微なズレをどこまで重く見るかが課題。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4. 分析結果・考察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考察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Ver4の強みと残課題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074920" cy="1207008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572000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明確な正誤に強い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457200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正確 recall 100.0%、誤り F1 95.0%。根拠と一致・不一致がはっきりするケースは安定。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074920" cy="1207008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18488"/>
            <a:ext cx="4572000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判断保留を扱える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02536"/>
            <a:ext cx="457200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判断保留 F1 97.4%。根拠不足や未確定情報を無理に断定しにくい。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44952"/>
            <a:ext cx="5074920" cy="120700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572000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0F7C80"/>
                </a:solidFill>
                <a:latin typeface="Yu Gothic"/>
              </a:rPr>
              <a:t>中間ラベルを表現できる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0168"/>
            <a:ext cx="457200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二値分類では拾いにくい、軽微差分や一部真実を分けて扱える。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044952"/>
            <a:ext cx="5074920" cy="120700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4572000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境界判定は残課題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30168"/>
            <a:ext cx="457200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正確/ほぼ正確、ほぼ正確/不正確、不正確/誤りの境界はまだ揺れやすい。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5102352"/>
            <a:ext cx="10195560" cy="74980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358384"/>
            <a:ext cx="9692640" cy="22860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700" b="1">
                <a:solidFill>
                  <a:srgbClr val="183048"/>
                </a:solidFill>
                <a:latin typeface="Yu Gothic"/>
              </a:rPr>
              <a:t>結論: Ver4は高精度だが、今後は中間ラベルの境界ルールをさらに磨く必要がある。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4. 分析結果・考察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875520" cy="384048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今後の改善方針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149840" cy="23774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既存100件での高性能を、未知データで確認する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2688" y="1444752"/>
            <a:ext cx="10287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4712" y="1609344"/>
            <a:ext cx="310896" cy="310896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" y="1655064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600200"/>
            <a:ext cx="29260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500" b="1">
                <a:solidFill>
                  <a:srgbClr val="0F7C80"/>
                </a:solidFill>
                <a:latin typeface="Yu Gothic"/>
              </a:rPr>
              <a:t>blind test 100件を作る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609344"/>
            <a:ext cx="598932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既存データに合わせすぎていないかを確認する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404872"/>
            <a:ext cx="10287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24712" y="2569464"/>
            <a:ext cx="310896" cy="310896"/>
          </a:xfrm>
          <a:prstGeom prst="ellipse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615184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60320"/>
            <a:ext cx="29260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500" b="1">
                <a:solidFill>
                  <a:srgbClr val="3D8F63"/>
                </a:solidFill>
                <a:latin typeface="Yu Gothic"/>
              </a:rPr>
              <a:t>同じblind setでVer2/3/4/5を比較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69464"/>
            <a:ext cx="598932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方式の違いを公平に評価する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364992"/>
            <a:ext cx="10287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24712" y="3529584"/>
            <a:ext cx="310896" cy="310896"/>
          </a:xfrm>
          <a:prstGeom prst="ellipse">
            <a:avLst/>
          </a:prstGeom>
          <a:solidFill>
            <a:srgbClr val="BF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" y="3575304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520440"/>
            <a:ext cx="29260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500" b="1">
                <a:solidFill>
                  <a:srgbClr val="BF9730"/>
                </a:solidFill>
                <a:latin typeface="Yu Gothic"/>
              </a:rPr>
              <a:t>境界判定ルールを構造化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529584"/>
            <a:ext cx="598932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固有名詞ごとの個別対応ではなく、一般化できるルールにする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325112"/>
            <a:ext cx="10287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4712" y="4489704"/>
            <a:ext cx="310896" cy="310896"/>
          </a:xfrm>
          <a:prstGeom prst="ellipse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" y="4535424"/>
            <a:ext cx="310896" cy="146304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480560"/>
            <a:ext cx="292608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500" b="1" dirty="0" err="1">
                <a:solidFill>
                  <a:srgbClr val="CF732F"/>
                </a:solidFill>
                <a:latin typeface="Yu Gothic"/>
              </a:rPr>
              <a:t>devとblindの両方で確認</a:t>
            </a:r>
            <a:endParaRPr sz="1500" b="1" dirty="0">
              <a:solidFill>
                <a:srgbClr val="CF732F"/>
              </a:solidFill>
              <a:latin typeface="Yu Gothi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4489704"/>
            <a:ext cx="5989320" cy="18288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既存性能を落とさず、汎化性能を上げる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760720"/>
            <a:ext cx="10469880" cy="274320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ctr"/>
            <a:r>
              <a:rPr sz="1500" b="1">
                <a:solidFill>
                  <a:srgbClr val="B63F3F"/>
                </a:solidFill>
                <a:latin typeface="Yu Gothic"/>
              </a:rPr>
              <a:t>プレゼンでの一言: 既存100件ではVer4が最良。ただし、次はblind testで汎化性能を確認する。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658368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4. 分析結果・考察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tIns="12700" rIns="381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337</Words>
  <Application>Microsoft Office PowerPoint</Application>
  <PresentationFormat>ワイド画面</PresentationFormat>
  <Paragraphs>104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隆之 中村</cp:lastModifiedBy>
  <cp:revision>1</cp:revision>
  <dcterms:created xsi:type="dcterms:W3CDTF">2013-01-27T09:14:16Z</dcterms:created>
  <dcterms:modified xsi:type="dcterms:W3CDTF">2026-04-28T23:53:44Z</dcterms:modified>
  <cp:category/>
</cp:coreProperties>
</file>