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隆之 中村" userId="9733118985f6bf19" providerId="LiveId" clId="{7E03243F-8E74-4492-ACEA-BA72F1FC6D56}"/>
    <pc:docChg chg="undo custSel modSld">
      <pc:chgData name="隆之 中村" userId="9733118985f6bf19" providerId="LiveId" clId="{7E03243F-8E74-4492-ACEA-BA72F1FC6D56}" dt="2026-04-28T18:35:30.860" v="13" actId="20577"/>
      <pc:docMkLst>
        <pc:docMk/>
      </pc:docMkLst>
      <pc:sldChg chg="modSp mod">
        <pc:chgData name="隆之 中村" userId="9733118985f6bf19" providerId="LiveId" clId="{7E03243F-8E74-4492-ACEA-BA72F1FC6D56}" dt="2026-04-28T18:35:30.860" v="13" actId="20577"/>
        <pc:sldMkLst>
          <pc:docMk/>
          <pc:sldMk cId="0" sldId="257"/>
        </pc:sldMkLst>
        <pc:spChg chg="mod">
          <ac:chgData name="隆之 中村" userId="9733118985f6bf19" providerId="LiveId" clId="{7E03243F-8E74-4492-ACEA-BA72F1FC6D56}" dt="2026-04-28T18:35:30.860" v="13" actId="20577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9144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CDE5E3"/>
                </a:solidFill>
                <a:latin typeface="Yu Gothic"/>
              </a:rPr>
              <a:t>Fake News Checker Ver4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9875520" cy="9601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Yu Gothic"/>
              </a:rPr>
              <a:t>分析アプローチ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852928"/>
            <a:ext cx="8321040" cy="5029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000" b="0">
                <a:solidFill>
                  <a:srgbClr val="E8EEF4"/>
                </a:solidFill>
                <a:latin typeface="Yu Gothic"/>
              </a:rPr>
              <a:t>文章理解 × 外部根拠確認 × 5段階判定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4187952"/>
            <a:ext cx="9509760" cy="749808"/>
          </a:xfrm>
          <a:prstGeom prst="roundRect">
            <a:avLst/>
          </a:prstGeom>
          <a:solidFill>
            <a:srgbClr val="254360"/>
          </a:solidFill>
          <a:ln w="12700">
            <a:solidFill>
              <a:srgbClr val="25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443984"/>
            <a:ext cx="9052560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文章だけで決め打ちせず、根拠と照合してから判定する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70448"/>
            <a:ext cx="384048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D6E0E8"/>
                </a:solidFill>
                <a:latin typeface="Yu Gothic"/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5097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初期仮説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文章だけでは、ニュースの真偽判定は安定しない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5029200" cy="32918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300" b="1">
                <a:solidFill>
                  <a:srgbClr val="183048"/>
                </a:solidFill>
                <a:latin typeface="Yu Gothic"/>
              </a:rPr>
              <a:t>なぜ文章だけでは難しいのか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754880" cy="21945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数字・時期・固有名詞の小さなズレが判定を左右する</a:t>
            </a:r>
            <a:endParaRPr dirty="0"/>
          </a:p>
          <a:p>
            <a:pPr>
              <a:lnSpc>
                <a:spcPct val="112000"/>
              </a:lnSpc>
              <a:spcAft>
                <a:spcPts val="60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一部だけ正しい主張は、単純な真偽分類では扱いにくい</a:t>
            </a:r>
            <a:endParaRPr dirty="0"/>
          </a:p>
          <a:p>
            <a:pPr>
              <a:lnSpc>
                <a:spcPct val="112000"/>
              </a:lnSpc>
              <a:spcAft>
                <a:spcPts val="60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根拠不足や学説未確立の話題は、断定すると誤判定になりやすい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035040" y="1417320"/>
            <a:ext cx="5166360" cy="283464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27648" y="1737360"/>
            <a:ext cx="45720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100" b="1">
                <a:solidFill>
                  <a:srgbClr val="0F7C80"/>
                </a:solidFill>
                <a:latin typeface="Yu Gothic"/>
              </a:rPr>
              <a:t>Ver4の方針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67712"/>
            <a:ext cx="4434840" cy="9601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000" b="0" dirty="0">
                <a:solidFill>
                  <a:srgbClr val="1B232B"/>
                </a:solidFill>
                <a:latin typeface="Yu Gothic"/>
              </a:rPr>
              <a:t>LLMの文脈理解だけに頼らず、外部根拠との照合を入れて、最終判定を5段階に整理する。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38928"/>
            <a:ext cx="10424160" cy="3657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000" b="1">
                <a:solidFill>
                  <a:srgbClr val="183048"/>
                </a:solidFill>
                <a:latin typeface="Yu Gothic"/>
              </a:rPr>
              <a:t>ポイント: 「それっぽい文章」ではなく「確認できる根拠」と照合する。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5097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分析パイプライン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入力から最終ラベルまでを段階的に確認する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965960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0F7C80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記事本文・主張・確認対象を受け取る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12264" y="2267712"/>
            <a:ext cx="201168" cy="228600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50592" y="1965960"/>
            <a:ext cx="310896" cy="310896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05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3D8F63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注意度や候補ラベルを先に整理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41064" y="2267712"/>
            <a:ext cx="201168" cy="228600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605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79392" y="1965960"/>
            <a:ext cx="310896" cy="310896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BF9730"/>
                </a:solidFill>
                <a:latin typeface="Yu Gothic"/>
              </a:rPr>
              <a:t>GPT一次レビュー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文脈理解と論点抽出を行う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69864" y="2267712"/>
            <a:ext cx="201168" cy="228600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893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08192" y="1965960"/>
            <a:ext cx="310896" cy="310896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1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CF732F"/>
                </a:solidFill>
                <a:latin typeface="Yu Gothic"/>
              </a:rPr>
              <a:t>Gemini根拠確認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外部情報と主張を照合する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598664" y="2267712"/>
            <a:ext cx="201168" cy="228600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181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936992" y="1965960"/>
            <a:ext cx="310896" cy="310896"/>
          </a:xfrm>
          <a:prstGeom prst="ellipse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369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B63F3F"/>
                </a:solidFill>
                <a:latin typeface="Yu Gothic"/>
              </a:rPr>
              <a:t>補正ルール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5段階ラベルへキャリブレーション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27464" y="2267712"/>
            <a:ext cx="201168" cy="228600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6469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765792" y="1965960"/>
            <a:ext cx="310896" cy="310896"/>
          </a:xfrm>
          <a:prstGeom prst="ellipse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65792" y="2011680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1965960"/>
            <a:ext cx="950976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1">
                <a:solidFill>
                  <a:srgbClr val="183048"/>
                </a:solidFill>
                <a:latin typeface="Yu Gothic"/>
              </a:rPr>
              <a:t>出力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2" y="2286000"/>
            <a:ext cx="1252728" cy="6126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判定・理由・確認リンクを返す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4160520"/>
            <a:ext cx="10287000" cy="1225296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34440" y="4443984"/>
            <a:ext cx="973836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200" b="1">
                <a:solidFill>
                  <a:srgbClr val="183048"/>
                </a:solidFill>
                <a:latin typeface="Yu Gothic"/>
              </a:rPr>
              <a:t>LLMの出力をそのまま採用せず、根拠確認結果と合わせて最終判断する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919472"/>
            <a:ext cx="94640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400" b="0">
                <a:solidFill>
                  <a:srgbClr val="58636E"/>
                </a:solidFill>
                <a:latin typeface="Yu Gothic"/>
              </a:rPr>
              <a:t>この補正部分が、Ver4の判定ロジックの中心。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5097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5段階判定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現実の主張にあるグラデーションを表現する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10771632" cy="56692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45336"/>
            <a:ext cx="160020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正確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545336"/>
            <a:ext cx="809244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主要部分が根拠と一致している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03704"/>
            <a:ext cx="10771632" cy="56692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160020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ほぼ正確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331720"/>
            <a:ext cx="809244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大筋は正しいが、数字・時期・表現などに軽微なズレがある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90088"/>
            <a:ext cx="10771632" cy="56692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18104"/>
            <a:ext cx="160020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判断保留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118104"/>
            <a:ext cx="809244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根拠不足、未確定、または断定できない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76472"/>
            <a:ext cx="10771632" cy="56692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904488"/>
            <a:ext cx="160020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不正確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904488"/>
            <a:ext cx="809244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一部に事実はあるが、重要部分に誤りがある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62856"/>
            <a:ext cx="10771632" cy="566928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90872"/>
            <a:ext cx="160020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63F3F"/>
                </a:solidFill>
                <a:latin typeface="Yu Gothic"/>
              </a:rPr>
              <a:t>誤り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690872"/>
            <a:ext cx="809244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核心部分が根拠によって明確に否定される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705856"/>
            <a:ext cx="10378440" cy="3657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900" b="1">
                <a:solidFill>
                  <a:srgbClr val="183048"/>
                </a:solidFill>
                <a:latin typeface="Yu Gothic"/>
              </a:rPr>
              <a:t>二値分類ではなく、中間ケースや根拠不足を明示的に扱う。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5097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判定ロジックのキャリブレーション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モデル再学習ではなく、LLM出力の解釈ルールを改善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444752"/>
            <a:ext cx="5074920" cy="1261872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177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核心が正しい + 軽微差分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66544"/>
            <a:ext cx="4617720" cy="411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数字・時期・表現差は、必要に応じて「ほぼ正確」へ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44752"/>
            <a:ext cx="5074920" cy="1261872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177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一部真実 + 重要な誤り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66544"/>
            <a:ext cx="4617720" cy="411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正しい要素があっても、結論を歪める場合は「不正確」へ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08960"/>
            <a:ext cx="5074920" cy="1261872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6177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63F3F"/>
                </a:solidFill>
                <a:latin typeface="Yu Gothic"/>
              </a:rPr>
              <a:t>存在しない発言・明確な反証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4617720" cy="411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根拠で否定できる場合は「誤り」へ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108960"/>
            <a:ext cx="5074920" cy="1261872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310128"/>
            <a:ext cx="461772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論争中・根拠不足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30752"/>
            <a:ext cx="4617720" cy="411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歴史論争や未確定情報は「判断保留」へ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" y="5157216"/>
            <a:ext cx="10012680" cy="65836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67528"/>
            <a:ext cx="9646920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500" b="1">
                <a:solidFill>
                  <a:srgbClr val="183048"/>
                </a:solidFill>
                <a:latin typeface="Yu Gothic"/>
              </a:rPr>
              <a:t>発表での言い方: GPT/Geminiの出力を5段階ラベルへ変換する判定ロジックをキャリブレーションした。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207</Words>
  <Application>Microsoft Office PowerPoint</Application>
  <PresentationFormat>ワイド画面</PresentationFormat>
  <Paragraphs>68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隆之 中村</cp:lastModifiedBy>
  <cp:revision>1</cp:revision>
  <dcterms:created xsi:type="dcterms:W3CDTF">2013-01-27T09:14:16Z</dcterms:created>
  <dcterms:modified xsi:type="dcterms:W3CDTF">2026-04-28T18:35:33Z</dcterms:modified>
  <cp:category/>
</cp:coreProperties>
</file>