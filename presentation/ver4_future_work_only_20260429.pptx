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0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1115568"/>
            <a:ext cx="91440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CDE5E3"/>
                </a:solidFill>
                <a:latin typeface="Yu Gothic"/>
              </a:rPr>
              <a:t>Fake News Checker Ver4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627632"/>
            <a:ext cx="10607040" cy="9601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Yu Gothic"/>
              </a:rPr>
              <a:t>6. 今後さらに実施してみたいこと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2761488"/>
            <a:ext cx="9144000" cy="5029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000" b="0">
                <a:solidFill>
                  <a:srgbClr val="E8EEF4"/>
                </a:solidFill>
                <a:latin typeface="Yu Gothic"/>
              </a:rPr>
              <a:t>既存100件での高性能を、未知データで確認する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16052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160520"/>
            <a:ext cx="2240280" cy="73152"/>
          </a:xfrm>
          <a:prstGeom prst="rect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343400"/>
            <a:ext cx="2020824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Current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590288"/>
            <a:ext cx="2020824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400" b="1">
                <a:solidFill>
                  <a:srgbClr val="0F7C80"/>
                </a:solidFill>
                <a:latin typeface="Yu Gothic"/>
              </a:rPr>
              <a:t>90.0%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416052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4160520"/>
            <a:ext cx="2240280" cy="73152"/>
          </a:xfrm>
          <a:prstGeom prst="rect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5848" y="4343400"/>
            <a:ext cx="2020824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Macro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4590288"/>
            <a:ext cx="2020824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400" b="1">
                <a:solidFill>
                  <a:srgbClr val="3D8F63"/>
                </a:solidFill>
                <a:latin typeface="Yu Gothic"/>
              </a:rPr>
              <a:t>89.9%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4160520"/>
            <a:ext cx="2240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4160520"/>
            <a:ext cx="2240280" cy="73152"/>
          </a:xfrm>
          <a:prstGeom prst="rect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79008" y="4343400"/>
            <a:ext cx="2020824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100" b="1">
                <a:solidFill>
                  <a:srgbClr val="58636E"/>
                </a:solidFill>
                <a:latin typeface="Yu Gothic"/>
              </a:rPr>
              <a:t>Mismatches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4590288"/>
            <a:ext cx="2020824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400" b="1">
                <a:solidFill>
                  <a:srgbClr val="CF732F"/>
                </a:solidFill>
                <a:latin typeface="Yu Gothic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33872"/>
            <a:ext cx="393192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D6E0E8"/>
                </a:solidFill>
                <a:latin typeface="Yu Gothic"/>
              </a:rPr>
              <a:t>2026-04-29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なぜ次の検証が必要か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既存100件では高性能。ただし、未知データでの確認がまだ必要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5166360" cy="2880360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673352"/>
            <a:ext cx="4572000" cy="2743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3D8F63"/>
                </a:solidFill>
                <a:latin typeface="Yu Gothic"/>
              </a:rPr>
              <a:t>現在できていること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4572000" cy="1325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t>• 既存100件でAccuracy 90.0%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t>• Macro F1 89.9%まで改善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t>• 5段階分類でも一定の精度を確認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53312"/>
            <a:ext cx="5166360" cy="2880360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1673352"/>
            <a:ext cx="4572000" cy="2743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100" b="1">
                <a:solidFill>
                  <a:srgbClr val="CF732F"/>
                </a:solidFill>
                <a:latin typeface="Yu Gothic"/>
              </a:rPr>
              <a:t>まだ確認したいこと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12848"/>
            <a:ext cx="4572000" cy="1325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t>• 既存100件に合わせすぎていないか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t>• 新しい記事や主張でも性能が出るか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500">
                <a:solidFill>
                  <a:srgbClr val="1B232B"/>
                </a:solidFill>
                <a:latin typeface="Yu Gothic"/>
              </a:defRPr>
            </a:pPr>
            <a:r>
              <a:t>• 中間ラベルの境界が安定するか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5321808"/>
            <a:ext cx="10469880" cy="34747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183048"/>
                </a:solidFill>
                <a:latin typeface="Yu Gothic"/>
              </a:rPr>
              <a:t>次の焦点: 既存データで良いだけでなく、未知データでも通用するかを確認する。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676656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6. 今後さらに実施してみたいこと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検証計画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blind testを作り、各バージョンを同じ条件で比較する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353312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517904"/>
            <a:ext cx="365760" cy="365760"/>
          </a:xfrm>
          <a:prstGeom prst="ellipse">
            <a:avLst/>
          </a:prstGeom>
          <a:solidFill>
            <a:srgbClr val="0F7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581912"/>
            <a:ext cx="365760" cy="13716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536192"/>
            <a:ext cx="32004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0F7C80"/>
                </a:solidFill>
                <a:latin typeface="Yu Gothic"/>
              </a:rPr>
              <a:t>blind test 100件を作る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65192" y="1554480"/>
            <a:ext cx="612648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改善に使っていない新しい評価データを用意する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313432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1560" y="2478024"/>
            <a:ext cx="365760" cy="365760"/>
          </a:xfrm>
          <a:prstGeom prst="ellipse">
            <a:avLst/>
          </a:prstGeom>
          <a:solidFill>
            <a:srgbClr val="3D8F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542032"/>
            <a:ext cx="365760" cy="13716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496312"/>
            <a:ext cx="32004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3D8F63"/>
                </a:solidFill>
                <a:latin typeface="Yu Gothic"/>
              </a:rPr>
              <a:t>Ver2/3/4/5を同じblind setで評価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2514600"/>
            <a:ext cx="612648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方式の違いを公平に比較する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273552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" y="3438144"/>
            <a:ext cx="365760" cy="365760"/>
          </a:xfrm>
          <a:prstGeom prst="ellipse">
            <a:avLst/>
          </a:prstGeom>
          <a:solidFill>
            <a:srgbClr val="BF9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02152"/>
            <a:ext cx="365760" cy="13716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456432"/>
            <a:ext cx="32004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BF9730"/>
                </a:solidFill>
                <a:latin typeface="Yu Gothic"/>
              </a:rPr>
              <a:t>devとblindの両方で確認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65192" y="3474720"/>
            <a:ext cx="612648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既存性能を落とさず、汎化性能を上げる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233672"/>
            <a:ext cx="1046988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51560" y="4398264"/>
            <a:ext cx="365760" cy="365760"/>
          </a:xfrm>
          <a:prstGeom prst="ellipse">
            <a:avLst/>
          </a:prstGeom>
          <a:solidFill>
            <a:srgbClr val="CF7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462272"/>
            <a:ext cx="365760" cy="13716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416552"/>
            <a:ext cx="3200400" cy="20116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500" b="1">
                <a:solidFill>
                  <a:srgbClr val="CF732F"/>
                </a:solidFill>
                <a:latin typeface="Yu Gothic"/>
              </a:rPr>
              <a:t>ミスマッチを再分析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65192" y="4434840"/>
            <a:ext cx="6126480" cy="18288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どの境界で失敗するかを構造的に見る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5376672"/>
            <a:ext cx="10195560" cy="56692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5559552"/>
            <a:ext cx="969264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400" b="1">
                <a:solidFill>
                  <a:srgbClr val="183048"/>
                </a:solidFill>
                <a:latin typeface="Yu Gothic"/>
              </a:rPr>
              <a:t>dev = 改善に使う既存データ、blind = 改善には使わない新規検証データ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446520"/>
            <a:ext cx="676656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6. 今後さらに実施してみたいこと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境界判定ルールの改善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固有名詞ごとの個別対応ではなく、一般化できるルールにする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074920" cy="120700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正確 vs ほぼ正確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数字・時期・表現のズレが、結論に影響するかを見る。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074920" cy="120700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ほぼ正確 vs 不正確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02536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一部の誤りが軽微か、主張の印象を変える重要な誤りかを分ける。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44952"/>
            <a:ext cx="5074920" cy="1207008"/>
          </a:xfrm>
          <a:prstGeom prst="roundRect">
            <a:avLst/>
          </a:prstGeom>
          <a:solidFill>
            <a:srgbClr val="F9E8E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63F3F"/>
                </a:solidFill>
                <a:latin typeface="Yu Gothic"/>
              </a:rPr>
              <a:t>不正確 vs 誤り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8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一部真実があるのか、核心が明確に否定されるのかを分ける。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044952"/>
            <a:ext cx="5074920" cy="120700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判断保留 vs 不正確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30168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根拠不足なのか、否定根拠が十分あるのかを分ける。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" y="5102352"/>
            <a:ext cx="10195560" cy="74980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5358384"/>
            <a:ext cx="969264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700" b="1">
                <a:solidFill>
                  <a:srgbClr val="183048"/>
                </a:solidFill>
                <a:latin typeface="Yu Gothic"/>
              </a:rPr>
              <a:t>目標: 個別ケースへのパッチではなく、未知データにも効く判定基準へ整理する。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676656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6. 今後さらに実施してみたいこと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実運用を想定した改善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精度だけでなく、使いやすさと運用コストも改善する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417320"/>
            <a:ext cx="5074920" cy="1207008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18488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0F7C80"/>
                </a:solidFill>
                <a:latin typeface="Yu Gothic"/>
              </a:rPr>
              <a:t>処理時間の短縮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02536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大量記事を扱うため、判定速度とAPI利用コストを改善する。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417320"/>
            <a:ext cx="5074920" cy="1207008"/>
          </a:xfrm>
          <a:prstGeom prst="roundRect">
            <a:avLst/>
          </a:prstGeom>
          <a:solidFill>
            <a:srgbClr val="E8F4EB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618488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3D8F63"/>
                </a:solidFill>
                <a:latin typeface="Yu Gothic"/>
              </a:rPr>
              <a:t>根拠リンクの信頼性評価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002536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公式情報・報道・SNSなど、根拠の信頼度を区別する。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44952"/>
            <a:ext cx="5074920" cy="1207008"/>
          </a:xfrm>
          <a:prstGeom prst="roundRect">
            <a:avLst/>
          </a:prstGeom>
          <a:solidFill>
            <a:srgbClr val="FBF6E2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246120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BF9730"/>
                </a:solidFill>
                <a:latin typeface="Yu Gothic"/>
              </a:rPr>
              <a:t>UI表示の改善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30168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判定、理由、注意点、確認リンクを見やすく整理する。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3044952"/>
            <a:ext cx="5074920" cy="1207008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246120"/>
            <a:ext cx="4672584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700" b="1">
                <a:solidFill>
                  <a:srgbClr val="CF732F"/>
                </a:solidFill>
                <a:latin typeface="Yu Gothic"/>
              </a:rPr>
              <a:t>一括処理と記録化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630168"/>
            <a:ext cx="4672584" cy="49377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200" b="0">
                <a:solidFill>
                  <a:srgbClr val="1B232B"/>
                </a:solidFill>
                <a:latin typeface="Yu Gothic"/>
              </a:rPr>
              <a:t>複数記事のCSV出力や、人間の修正履歴を残せるようにする。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742432"/>
            <a:ext cx="10469880" cy="25603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500" b="1">
                <a:solidFill>
                  <a:srgbClr val="183048"/>
                </a:solidFill>
                <a:latin typeface="Yu Gothic"/>
              </a:rPr>
              <a:t>実運用では、精度に加えて、速さ・説明の見やすさ・再確認のしやすさが重要。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46520"/>
            <a:ext cx="676656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6. 今後さらに実施してみたいこと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評価の見方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devとblindの両方で確認する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4937760" cy="2971800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" y="1755648"/>
            <a:ext cx="4434840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200" b="1">
                <a:solidFill>
                  <a:srgbClr val="0F7C80"/>
                </a:solidFill>
                <a:latin typeface="Yu Gothic"/>
              </a:rPr>
              <a:t>devで確認すること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340864"/>
            <a:ext cx="4389120" cy="11430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400">
                <a:solidFill>
                  <a:srgbClr val="1B232B"/>
                </a:solidFill>
                <a:latin typeface="Yu Gothic"/>
              </a:defRPr>
            </a:pPr>
            <a:r>
              <a:t>• 既存100件で性能が落ちていないか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400">
                <a:solidFill>
                  <a:srgbClr val="1B232B"/>
                </a:solidFill>
                <a:latin typeface="Yu Gothic"/>
              </a:defRPr>
            </a:pPr>
            <a:r>
              <a:t>• 改善前に直した誤分類が再発していないか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400">
                <a:solidFill>
                  <a:srgbClr val="1B232B"/>
                </a:solidFill>
                <a:latin typeface="Yu Gothic"/>
              </a:defRPr>
            </a:pPr>
            <a:r>
              <a:t>• ルール変更の副作用がないか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4937760" cy="2971800"/>
          </a:xfrm>
          <a:prstGeom prst="roundRect">
            <a:avLst/>
          </a:prstGeom>
          <a:solidFill>
            <a:srgbClr val="FAEEE3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0256" y="1755648"/>
            <a:ext cx="4434840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200" b="1">
                <a:solidFill>
                  <a:srgbClr val="CF732F"/>
                </a:solidFill>
                <a:latin typeface="Yu Gothic"/>
              </a:rPr>
              <a:t>blindで確認すること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340864"/>
            <a:ext cx="4389120" cy="11430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400">
                <a:solidFill>
                  <a:srgbClr val="1B232B"/>
                </a:solidFill>
                <a:latin typeface="Yu Gothic"/>
              </a:defRPr>
            </a:pPr>
            <a:r>
              <a:t>• 未知データにも対応できるか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400">
                <a:solidFill>
                  <a:srgbClr val="1B232B"/>
                </a:solidFill>
                <a:latin typeface="Yu Gothic"/>
              </a:defRPr>
            </a:pPr>
            <a:r>
              <a:t>• 既存100件に合わせすぎていないか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400">
                <a:solidFill>
                  <a:srgbClr val="1B232B"/>
                </a:solidFill>
                <a:latin typeface="Yu Gothic"/>
              </a:defRPr>
            </a:pPr>
            <a:r>
              <a:t>• 汎化性能があるか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5102352"/>
            <a:ext cx="10195560" cy="749808"/>
          </a:xfrm>
          <a:prstGeom prst="roundRect">
            <a:avLst/>
          </a:prstGeom>
          <a:solidFill>
            <a:srgbClr val="E8EFF8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5358384"/>
            <a:ext cx="9692640" cy="22860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800" b="1">
                <a:solidFill>
                  <a:srgbClr val="183048"/>
                </a:solidFill>
                <a:latin typeface="Yu Gothic"/>
              </a:rPr>
              <a:t>両方で見ることで、既存性能と汎化性能のバランスを確認する。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46520"/>
            <a:ext cx="676656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6. 今後さらに実施してみたいこと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0058400" cy="384048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500" b="1">
                <a:solidFill>
                  <a:srgbClr val="183048"/>
                </a:solidFill>
                <a:latin typeface="Yu Gothic"/>
              </a:rPr>
              <a:t>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40664"/>
            <a:ext cx="10241280" cy="237744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000" b="0">
                <a:solidFill>
                  <a:srgbClr val="58636E"/>
                </a:solidFill>
                <a:latin typeface="Yu Gothic"/>
              </a:rPr>
              <a:t>次は、未知データで本当に使えるかを確認する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05840"/>
            <a:ext cx="11018520" cy="18288"/>
          </a:xfrm>
          <a:prstGeom prst="rect">
            <a:avLst/>
          </a:prstGeom>
          <a:solidFill>
            <a:srgbClr val="D6DC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60120" y="1444752"/>
            <a:ext cx="10149840" cy="1097280"/>
          </a:xfrm>
          <a:prstGeom prst="roundRect">
            <a:avLst/>
          </a:prstGeom>
          <a:solidFill>
            <a:srgbClr val="E6F3F0"/>
          </a:solidFill>
          <a:ln w="12700">
            <a:solidFill>
              <a:srgbClr val="D6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07008" y="1755648"/>
            <a:ext cx="9674352" cy="310896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2400" b="1">
                <a:solidFill>
                  <a:srgbClr val="183048"/>
                </a:solidFill>
                <a:latin typeface="Yu Gothic"/>
              </a:rPr>
              <a:t>既存100件で高性能 → blind testで汎化性能を検証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063240"/>
            <a:ext cx="9464040" cy="169164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新規blind 100件を作り、既存データへの合わせすぎを確認する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Ver2/3/4/5を同じ条件で比較し、方式差を公平に見る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中間ラベルの境界判定ルールを、一般化できる形で改善する</a:t>
            </a:r>
          </a:p>
          <a:p>
            <a:pPr>
              <a:lnSpc>
                <a:spcPct val="110000"/>
              </a:lnSpc>
              <a:spcAft>
                <a:spcPts val="500"/>
              </a:spcAft>
              <a:defRPr sz="1700">
                <a:solidFill>
                  <a:srgbClr val="1B232B"/>
                </a:solidFill>
                <a:latin typeface="Yu Gothic"/>
              </a:defRPr>
            </a:pPr>
            <a:r>
              <a:t>• 実運用を見据えて、速度・UI・根拠リンク・記録化も改善する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5614416"/>
            <a:ext cx="10058400" cy="34747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ctr"/>
            <a:r>
              <a:rPr sz="1600" b="1">
                <a:solidFill>
                  <a:srgbClr val="0F7C80"/>
                </a:solidFill>
                <a:latin typeface="Yu Gothic"/>
              </a:rPr>
              <a:t>プレゼンでの一言: 今後は、精度を上げるだけでなく、未知データでも安定して使えるかを検証します。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46520"/>
            <a:ext cx="676656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800" b="0">
                <a:solidFill>
                  <a:srgbClr val="58636E"/>
                </a:solidFill>
                <a:latin typeface="Yu Gothic"/>
              </a:rPr>
              <a:t>Fake News Checker Ver4 | 6. 今後さらに実施してみたいこと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r"/>
            <a:r>
              <a:rPr sz="800" b="0">
                <a:solidFill>
                  <a:srgbClr val="58636E"/>
                </a:solidFill>
                <a:latin typeface="Yu Gothic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