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隆之 中村" userId="9733118985f6bf19" providerId="LiveId" clId="{7E03243F-8E74-4492-ACEA-BA72F1FC6D56}"/>
    <pc:docChg chg="modSld">
      <pc:chgData name="隆之 中村" userId="9733118985f6bf19" providerId="LiveId" clId="{7E03243F-8E74-4492-ACEA-BA72F1FC6D56}" dt="2026-04-29T01:20:08.243" v="0" actId="1076"/>
      <pc:docMkLst>
        <pc:docMk/>
      </pc:docMkLst>
      <pc:sldChg chg="modSp mod">
        <pc:chgData name="隆之 中村" userId="9733118985f6bf19" providerId="LiveId" clId="{7E03243F-8E74-4492-ACEA-BA72F1FC6D56}" dt="2026-04-29T01:20:08.243" v="0" actId="1076"/>
        <pc:sldMkLst>
          <pc:docMk/>
          <pc:sldMk cId="0" sldId="260"/>
        </pc:sldMkLst>
        <pc:spChg chg="mod">
          <ac:chgData name="隆之 中村" userId="9733118985f6bf19" providerId="LiveId" clId="{7E03243F-8E74-4492-ACEA-BA72F1FC6D56}" dt="2026-04-29T01:20:08.243" v="0" actId="1076"/>
          <ac:spMkLst>
            <pc:docMk/>
            <pc:sldMk cId="0" sldId="260"/>
            <ac:spMk id="20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83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7C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49808" y="1170432"/>
            <a:ext cx="9144000" cy="384048"/>
          </a:xfrm>
          <a:prstGeom prst="rect">
            <a:avLst/>
          </a:prstGeom>
          <a:noFill/>
        </p:spPr>
        <p:txBody>
          <a:bodyPr wrap="square" lIns="38100" tIns="12700" rIns="38100" bIns="12700" anchor="t">
            <a:spAutoFit/>
          </a:bodyPr>
          <a:lstStyle/>
          <a:p>
            <a:pPr algn="l"/>
            <a:r>
              <a:rPr sz="2500" b="1">
                <a:solidFill>
                  <a:srgbClr val="CDE5E3"/>
                </a:solidFill>
                <a:latin typeface="Yu Gothic"/>
              </a:rPr>
              <a:t>Fake News Checker Ver4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1719072"/>
            <a:ext cx="9966960" cy="960120"/>
          </a:xfrm>
          <a:prstGeom prst="rect">
            <a:avLst/>
          </a:prstGeom>
          <a:noFill/>
        </p:spPr>
        <p:txBody>
          <a:bodyPr wrap="square" lIns="38100" tIns="12700" rIns="38100" bIns="12700" anchor="t">
            <a:spAutoFit/>
          </a:bodyPr>
          <a:lstStyle/>
          <a:p>
            <a:pPr algn="l"/>
            <a:r>
              <a:rPr sz="4600" b="1">
                <a:solidFill>
                  <a:srgbClr val="FFFFFF"/>
                </a:solidFill>
                <a:latin typeface="Yu Gothic"/>
              </a:rPr>
              <a:t>5. ビジネスインパクト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2816352"/>
            <a:ext cx="8595360" cy="502920"/>
          </a:xfrm>
          <a:prstGeom prst="rect">
            <a:avLst/>
          </a:prstGeom>
          <a:noFill/>
        </p:spPr>
        <p:txBody>
          <a:bodyPr wrap="square" lIns="38100" tIns="12700" rIns="38100" bIns="12700" anchor="t">
            <a:spAutoFit/>
          </a:bodyPr>
          <a:lstStyle/>
          <a:p>
            <a:pPr algn="l"/>
            <a:r>
              <a:rPr sz="2000" b="0">
                <a:solidFill>
                  <a:srgbClr val="E8EEF4"/>
                </a:solidFill>
                <a:latin typeface="Yu Gothic"/>
              </a:rPr>
              <a:t>大量情報の確認作業を、速く・根拠付きにする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" y="4160520"/>
            <a:ext cx="9738360" cy="768096"/>
          </a:xfrm>
          <a:prstGeom prst="roundRect">
            <a:avLst/>
          </a:prstGeom>
          <a:solidFill>
            <a:srgbClr val="254360"/>
          </a:solidFill>
          <a:ln w="12700">
            <a:solidFill>
              <a:srgbClr val="2543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24128" y="4425696"/>
            <a:ext cx="9326880" cy="210312"/>
          </a:xfrm>
          <a:prstGeom prst="rect">
            <a:avLst/>
          </a:prstGeom>
          <a:noFill/>
        </p:spPr>
        <p:txBody>
          <a:bodyPr wrap="square" lIns="38100" tIns="12700" rIns="38100" bIns="12700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Yu Gothic"/>
              </a:rPr>
              <a:t>AIが最終判断するのではなく、人間の確認作業を支援する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5833872"/>
            <a:ext cx="3931920" cy="201168"/>
          </a:xfrm>
          <a:prstGeom prst="rect">
            <a:avLst/>
          </a:prstGeom>
          <a:noFill/>
        </p:spPr>
        <p:txBody>
          <a:bodyPr wrap="square" lIns="38100" tIns="12700" rIns="38100" bIns="12700" anchor="t">
            <a:spAutoFit/>
          </a:bodyPr>
          <a:lstStyle/>
          <a:p>
            <a:pPr algn="l"/>
            <a:r>
              <a:rPr sz="1200" b="0">
                <a:solidFill>
                  <a:srgbClr val="D6E0E8"/>
                </a:solidFill>
                <a:latin typeface="Yu Gothic"/>
              </a:rPr>
              <a:t>2026-04-29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10896"/>
            <a:ext cx="9966960" cy="384048"/>
          </a:xfrm>
          <a:prstGeom prst="rect">
            <a:avLst/>
          </a:prstGeom>
          <a:noFill/>
        </p:spPr>
        <p:txBody>
          <a:bodyPr wrap="square" lIns="38100" tIns="12700" rIns="38100" bIns="12700" anchor="t">
            <a:spAutoFit/>
          </a:bodyPr>
          <a:lstStyle/>
          <a:p>
            <a:pPr algn="l"/>
            <a:r>
              <a:rPr sz="2500" b="1">
                <a:solidFill>
                  <a:srgbClr val="183048"/>
                </a:solidFill>
                <a:latin typeface="Yu Gothic"/>
              </a:rPr>
              <a:t>業務上の課題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5216" y="740664"/>
            <a:ext cx="10241280" cy="237744"/>
          </a:xfrm>
          <a:prstGeom prst="rect">
            <a:avLst/>
          </a:prstGeom>
          <a:noFill/>
        </p:spPr>
        <p:txBody>
          <a:bodyPr wrap="square" lIns="38100" tIns="12700" rIns="38100" bIns="12700" anchor="t">
            <a:spAutoFit/>
          </a:bodyPr>
          <a:lstStyle/>
          <a:p>
            <a:pPr algn="l"/>
            <a:r>
              <a:rPr sz="1000" b="0">
                <a:solidFill>
                  <a:srgbClr val="58636E"/>
                </a:solidFill>
                <a:latin typeface="Yu Gothic"/>
              </a:rPr>
              <a:t>誤情報は拡散が速く、人手確認だけでは追いつきにくい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05840"/>
            <a:ext cx="11018520" cy="18288"/>
          </a:xfrm>
          <a:prstGeom prst="rect">
            <a:avLst/>
          </a:prstGeom>
          <a:solidFill>
            <a:srgbClr val="D6DC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49808" y="1417320"/>
            <a:ext cx="5166360" cy="2907792"/>
          </a:xfrm>
          <a:prstGeom prst="roundRect">
            <a:avLst/>
          </a:prstGeom>
          <a:solidFill>
            <a:srgbClr val="E8EFF8"/>
          </a:solidFill>
          <a:ln w="12700">
            <a:solidFill>
              <a:srgbClr val="D6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24128" y="1737360"/>
            <a:ext cx="4572000" cy="274320"/>
          </a:xfrm>
          <a:prstGeom prst="rect">
            <a:avLst/>
          </a:prstGeom>
          <a:noFill/>
        </p:spPr>
        <p:txBody>
          <a:bodyPr wrap="square" lIns="38100" tIns="12700" rIns="38100" bIns="12700" anchor="t">
            <a:spAutoFit/>
          </a:bodyPr>
          <a:lstStyle/>
          <a:p>
            <a:pPr algn="l"/>
            <a:r>
              <a:rPr sz="2100" b="1">
                <a:solidFill>
                  <a:srgbClr val="183048"/>
                </a:solidFill>
                <a:latin typeface="Yu Gothic"/>
              </a:rPr>
              <a:t>現場で起きること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267712"/>
            <a:ext cx="4572000" cy="1371600"/>
          </a:xfrm>
          <a:prstGeom prst="rect">
            <a:avLst/>
          </a:prstGeom>
          <a:noFill/>
        </p:spPr>
        <p:txBody>
          <a:bodyPr wrap="square" lIns="38100" tIns="12700" rIns="38100" bIns="12700" anchor="t">
            <a:spAutoFit/>
          </a:bodyPr>
          <a:lstStyle/>
          <a:p>
            <a:pPr>
              <a:lnSpc>
                <a:spcPct val="110000"/>
              </a:lnSpc>
              <a:spcAft>
                <a:spcPts val="500"/>
              </a:spcAft>
              <a:defRPr sz="1500">
                <a:solidFill>
                  <a:srgbClr val="1B232B"/>
                </a:solidFill>
                <a:latin typeface="Yu Gothic"/>
              </a:defRPr>
            </a:pPr>
            <a:r>
              <a:rPr dirty="0"/>
              <a:t>• </a:t>
            </a:r>
            <a:r>
              <a:rPr dirty="0" err="1"/>
              <a:t>SNSやWeb上に大量の情報が流れる</a:t>
            </a:r>
            <a:endParaRPr dirty="0"/>
          </a:p>
          <a:p>
            <a:pPr>
              <a:lnSpc>
                <a:spcPct val="110000"/>
              </a:lnSpc>
              <a:spcAft>
                <a:spcPts val="500"/>
              </a:spcAft>
              <a:defRPr sz="1500">
                <a:solidFill>
                  <a:srgbClr val="1B232B"/>
                </a:solidFill>
                <a:latin typeface="Yu Gothic"/>
              </a:defRPr>
            </a:pPr>
            <a:r>
              <a:rPr dirty="0"/>
              <a:t>• </a:t>
            </a:r>
            <a:r>
              <a:rPr dirty="0" err="1"/>
              <a:t>誤情報は短時間で拡散しやすい</a:t>
            </a:r>
            <a:endParaRPr dirty="0"/>
          </a:p>
          <a:p>
            <a:pPr>
              <a:lnSpc>
                <a:spcPct val="110000"/>
              </a:lnSpc>
              <a:spcAft>
                <a:spcPts val="500"/>
              </a:spcAft>
              <a:defRPr sz="1500">
                <a:solidFill>
                  <a:srgbClr val="1B232B"/>
                </a:solidFill>
                <a:latin typeface="Yu Gothic"/>
              </a:defRPr>
            </a:pPr>
            <a:r>
              <a:rPr dirty="0"/>
              <a:t>• </a:t>
            </a:r>
            <a:r>
              <a:rPr dirty="0" err="1"/>
              <a:t>人手だけでは確認の優先順位をつけにくい</a:t>
            </a:r>
            <a:endParaRPr dirty="0"/>
          </a:p>
        </p:txBody>
      </p:sp>
      <p:sp>
        <p:nvSpPr>
          <p:cNvPr id="8" name="Rounded Rectangle 7"/>
          <p:cNvSpPr/>
          <p:nvPr/>
        </p:nvSpPr>
        <p:spPr>
          <a:xfrm>
            <a:off x="6236208" y="1417320"/>
            <a:ext cx="5166360" cy="2907792"/>
          </a:xfrm>
          <a:prstGeom prst="roundRect">
            <a:avLst/>
          </a:prstGeom>
          <a:solidFill>
            <a:srgbClr val="E6F3F0"/>
          </a:solidFill>
          <a:ln w="12700">
            <a:solidFill>
              <a:srgbClr val="D6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510528" y="1737360"/>
            <a:ext cx="4572000" cy="274320"/>
          </a:xfrm>
          <a:prstGeom prst="rect">
            <a:avLst/>
          </a:prstGeom>
          <a:noFill/>
        </p:spPr>
        <p:txBody>
          <a:bodyPr wrap="square" lIns="38100" tIns="12700" rIns="38100" bIns="12700" anchor="t">
            <a:spAutoFit/>
          </a:bodyPr>
          <a:lstStyle/>
          <a:p>
            <a:pPr algn="l"/>
            <a:r>
              <a:rPr sz="2100" b="1">
                <a:solidFill>
                  <a:srgbClr val="0F7C80"/>
                </a:solidFill>
                <a:latin typeface="Yu Gothic"/>
              </a:rPr>
              <a:t>Ver4でできること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2267712"/>
            <a:ext cx="4572000" cy="1371600"/>
          </a:xfrm>
          <a:prstGeom prst="rect">
            <a:avLst/>
          </a:prstGeom>
          <a:noFill/>
        </p:spPr>
        <p:txBody>
          <a:bodyPr wrap="square" lIns="38100" tIns="12700" rIns="38100" bIns="12700" anchor="t">
            <a:spAutoFit/>
          </a:bodyPr>
          <a:lstStyle/>
          <a:p>
            <a:pPr>
              <a:lnSpc>
                <a:spcPct val="110000"/>
              </a:lnSpc>
              <a:spcAft>
                <a:spcPts val="500"/>
              </a:spcAft>
              <a:defRPr sz="1500">
                <a:solidFill>
                  <a:srgbClr val="1B232B"/>
                </a:solidFill>
                <a:latin typeface="Yu Gothic"/>
              </a:defRPr>
            </a:pPr>
            <a:r>
              <a:rPr dirty="0"/>
              <a:t>• </a:t>
            </a:r>
            <a:r>
              <a:rPr dirty="0" err="1"/>
              <a:t>要注意の投稿や記事を一次抽出する</a:t>
            </a:r>
            <a:endParaRPr dirty="0"/>
          </a:p>
          <a:p>
            <a:pPr>
              <a:lnSpc>
                <a:spcPct val="110000"/>
              </a:lnSpc>
              <a:spcAft>
                <a:spcPts val="500"/>
              </a:spcAft>
              <a:defRPr sz="1500">
                <a:solidFill>
                  <a:srgbClr val="1B232B"/>
                </a:solidFill>
                <a:latin typeface="Yu Gothic"/>
              </a:defRPr>
            </a:pPr>
            <a:r>
              <a:rPr dirty="0"/>
              <a:t>• </a:t>
            </a:r>
            <a:r>
              <a:rPr dirty="0" err="1"/>
              <a:t>主張・理由・確認リンクを整理する</a:t>
            </a:r>
            <a:endParaRPr dirty="0"/>
          </a:p>
          <a:p>
            <a:pPr>
              <a:lnSpc>
                <a:spcPct val="110000"/>
              </a:lnSpc>
              <a:spcAft>
                <a:spcPts val="500"/>
              </a:spcAft>
              <a:defRPr sz="1500">
                <a:solidFill>
                  <a:srgbClr val="1B232B"/>
                </a:solidFill>
                <a:latin typeface="Yu Gothic"/>
              </a:defRPr>
            </a:pPr>
            <a:r>
              <a:rPr dirty="0"/>
              <a:t>• </a:t>
            </a:r>
            <a:r>
              <a:rPr dirty="0" err="1"/>
              <a:t>担当者が確認すべき対象を絞り込む</a:t>
            </a:r>
            <a:endParaRPr dirty="0"/>
          </a:p>
        </p:txBody>
      </p:sp>
      <p:sp>
        <p:nvSpPr>
          <p:cNvPr id="11" name="TextBox 10"/>
          <p:cNvSpPr txBox="1"/>
          <p:nvPr/>
        </p:nvSpPr>
        <p:spPr>
          <a:xfrm>
            <a:off x="841248" y="5349240"/>
            <a:ext cx="10469880" cy="329184"/>
          </a:xfrm>
          <a:prstGeom prst="rect">
            <a:avLst/>
          </a:prstGeom>
          <a:noFill/>
        </p:spPr>
        <p:txBody>
          <a:bodyPr wrap="square" lIns="38100" tIns="12700" rIns="38100" bIns="12700" anchor="t">
            <a:spAutoFit/>
          </a:bodyPr>
          <a:lstStyle/>
          <a:p>
            <a:pPr algn="ctr"/>
            <a:r>
              <a:rPr sz="1800" b="1">
                <a:solidFill>
                  <a:srgbClr val="183048"/>
                </a:solidFill>
                <a:latin typeface="Yu Gothic"/>
              </a:rPr>
              <a:t>価値: すべてを同じ優先度で読む状態から、確認すべきものから見る状態へ変える。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6446520"/>
            <a:ext cx="6583680" cy="164592"/>
          </a:xfrm>
          <a:prstGeom prst="rect">
            <a:avLst/>
          </a:prstGeom>
          <a:noFill/>
        </p:spPr>
        <p:txBody>
          <a:bodyPr wrap="square" lIns="38100" tIns="12700" rIns="38100" bIns="12700" anchor="t">
            <a:spAutoFit/>
          </a:bodyPr>
          <a:lstStyle/>
          <a:p>
            <a:pPr algn="l"/>
            <a:r>
              <a:rPr sz="800" b="0">
                <a:solidFill>
                  <a:srgbClr val="58636E"/>
                </a:solidFill>
                <a:latin typeface="Yu Gothic"/>
              </a:rPr>
              <a:t>Fake News Checker Ver4 | 5. ビジネスインパクト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01400" y="6446520"/>
            <a:ext cx="502920" cy="164592"/>
          </a:xfrm>
          <a:prstGeom prst="rect">
            <a:avLst/>
          </a:prstGeom>
          <a:noFill/>
        </p:spPr>
        <p:txBody>
          <a:bodyPr wrap="square" lIns="38100" tIns="12700" rIns="38100" bIns="12700" anchor="t">
            <a:spAutoFit/>
          </a:bodyPr>
          <a:lstStyle/>
          <a:p>
            <a:pPr algn="r"/>
            <a:r>
              <a:rPr sz="800" b="0">
                <a:solidFill>
                  <a:srgbClr val="58636E"/>
                </a:solidFill>
                <a:latin typeface="Yu Gothic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10896"/>
            <a:ext cx="9966960" cy="384048"/>
          </a:xfrm>
          <a:prstGeom prst="rect">
            <a:avLst/>
          </a:prstGeom>
          <a:noFill/>
        </p:spPr>
        <p:txBody>
          <a:bodyPr wrap="square" lIns="38100" tIns="12700" rIns="38100" bIns="12700" anchor="t">
            <a:spAutoFit/>
          </a:bodyPr>
          <a:lstStyle/>
          <a:p>
            <a:pPr algn="l"/>
            <a:r>
              <a:rPr sz="2500" b="1">
                <a:solidFill>
                  <a:srgbClr val="183048"/>
                </a:solidFill>
                <a:latin typeface="Yu Gothic"/>
              </a:rPr>
              <a:t>主なビジネスインパクト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5216" y="740664"/>
            <a:ext cx="10241280" cy="237744"/>
          </a:xfrm>
          <a:prstGeom prst="rect">
            <a:avLst/>
          </a:prstGeom>
          <a:noFill/>
        </p:spPr>
        <p:txBody>
          <a:bodyPr wrap="square" lIns="38100" tIns="12700" rIns="38100" bIns="12700" anchor="t">
            <a:spAutoFit/>
          </a:bodyPr>
          <a:lstStyle/>
          <a:p>
            <a:pPr algn="l"/>
            <a:r>
              <a:rPr sz="1000" b="0">
                <a:solidFill>
                  <a:srgbClr val="58636E"/>
                </a:solidFill>
                <a:latin typeface="Yu Gothic"/>
              </a:rPr>
              <a:t>確認作業の効率化と、説明しやすい対応につながる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05840"/>
            <a:ext cx="11018520" cy="18288"/>
          </a:xfrm>
          <a:prstGeom prst="rect">
            <a:avLst/>
          </a:prstGeom>
          <a:solidFill>
            <a:srgbClr val="D6DC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13232" y="1417320"/>
            <a:ext cx="5074920" cy="1207008"/>
          </a:xfrm>
          <a:prstGeom prst="roundRect">
            <a:avLst/>
          </a:prstGeom>
          <a:solidFill>
            <a:srgbClr val="E6F3F0"/>
          </a:solidFill>
          <a:ln w="12700">
            <a:solidFill>
              <a:srgbClr val="D6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618488"/>
            <a:ext cx="4672584" cy="228600"/>
          </a:xfrm>
          <a:prstGeom prst="rect">
            <a:avLst/>
          </a:prstGeom>
          <a:noFill/>
        </p:spPr>
        <p:txBody>
          <a:bodyPr wrap="square" lIns="38100" tIns="12700" rIns="38100" bIns="12700" anchor="t">
            <a:spAutoFit/>
          </a:bodyPr>
          <a:lstStyle/>
          <a:p>
            <a:pPr algn="l"/>
            <a:r>
              <a:rPr sz="1700" b="1">
                <a:solidFill>
                  <a:srgbClr val="0F7C80"/>
                </a:solidFill>
                <a:latin typeface="Yu Gothic"/>
              </a:rPr>
              <a:t>一次スクリーニング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002536"/>
            <a:ext cx="4672584" cy="512064"/>
          </a:xfrm>
          <a:prstGeom prst="rect">
            <a:avLst/>
          </a:prstGeom>
          <a:noFill/>
        </p:spPr>
        <p:txBody>
          <a:bodyPr wrap="square" lIns="38100" tIns="12700" rIns="38100" bIns="12700" anchor="t">
            <a:spAutoFit/>
          </a:bodyPr>
          <a:lstStyle/>
          <a:p>
            <a:pPr algn="l"/>
            <a:r>
              <a:rPr sz="1200" b="0">
                <a:solidFill>
                  <a:srgbClr val="1B232B"/>
                </a:solidFill>
                <a:latin typeface="Yu Gothic"/>
              </a:rPr>
              <a:t>大量の記事・投稿から、要注意度の高いものを優先的に抽出する。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45352" y="1417320"/>
            <a:ext cx="5074920" cy="1207008"/>
          </a:xfrm>
          <a:prstGeom prst="roundRect">
            <a:avLst/>
          </a:prstGeom>
          <a:solidFill>
            <a:srgbClr val="E8F4EB"/>
          </a:solidFill>
          <a:ln w="12700">
            <a:solidFill>
              <a:srgbClr val="D6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46520" y="1618488"/>
            <a:ext cx="4672584" cy="228600"/>
          </a:xfrm>
          <a:prstGeom prst="rect">
            <a:avLst/>
          </a:prstGeom>
          <a:noFill/>
        </p:spPr>
        <p:txBody>
          <a:bodyPr wrap="square" lIns="38100" tIns="12700" rIns="38100" bIns="12700" anchor="t">
            <a:spAutoFit/>
          </a:bodyPr>
          <a:lstStyle/>
          <a:p>
            <a:pPr algn="l"/>
            <a:r>
              <a:rPr sz="1700" b="1">
                <a:solidFill>
                  <a:srgbClr val="3D8F63"/>
                </a:solidFill>
                <a:latin typeface="Yu Gothic"/>
              </a:rPr>
              <a:t>調査時間の短縮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46520" y="2002536"/>
            <a:ext cx="4672584" cy="512064"/>
          </a:xfrm>
          <a:prstGeom prst="rect">
            <a:avLst/>
          </a:prstGeom>
          <a:noFill/>
        </p:spPr>
        <p:txBody>
          <a:bodyPr wrap="square" lIns="38100" tIns="12700" rIns="38100" bIns="12700" anchor="t">
            <a:spAutoFit/>
          </a:bodyPr>
          <a:lstStyle/>
          <a:p>
            <a:pPr algn="l"/>
            <a:r>
              <a:rPr sz="1200" b="0" dirty="0" err="1">
                <a:solidFill>
                  <a:srgbClr val="1B232B"/>
                </a:solidFill>
                <a:latin typeface="Yu Gothic"/>
              </a:rPr>
              <a:t>判定理由や確認リンクを出すため、ゼロから調べる時間を減らせる</a:t>
            </a:r>
            <a:r>
              <a:rPr sz="1200" b="0" dirty="0">
                <a:solidFill>
                  <a:srgbClr val="1B232B"/>
                </a:solidFill>
                <a:latin typeface="Yu Gothic"/>
              </a:rPr>
              <a:t>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13232" y="3044952"/>
            <a:ext cx="5074920" cy="1207008"/>
          </a:xfrm>
          <a:prstGeom prst="roundRect">
            <a:avLst/>
          </a:prstGeom>
          <a:solidFill>
            <a:srgbClr val="FBF6E2"/>
          </a:solidFill>
          <a:ln w="12700">
            <a:solidFill>
              <a:srgbClr val="D6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14400" y="3246120"/>
            <a:ext cx="4672584" cy="228600"/>
          </a:xfrm>
          <a:prstGeom prst="rect">
            <a:avLst/>
          </a:prstGeom>
          <a:noFill/>
        </p:spPr>
        <p:txBody>
          <a:bodyPr wrap="square" lIns="38100" tIns="12700" rIns="38100" bIns="12700" anchor="t">
            <a:spAutoFit/>
          </a:bodyPr>
          <a:lstStyle/>
          <a:p>
            <a:pPr algn="l"/>
            <a:r>
              <a:rPr sz="1700" b="1">
                <a:solidFill>
                  <a:srgbClr val="BF9730"/>
                </a:solidFill>
                <a:latin typeface="Yu Gothic"/>
              </a:rPr>
              <a:t>説明責任の補助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630168"/>
            <a:ext cx="4672584" cy="512064"/>
          </a:xfrm>
          <a:prstGeom prst="rect">
            <a:avLst/>
          </a:prstGeom>
          <a:noFill/>
        </p:spPr>
        <p:txBody>
          <a:bodyPr wrap="square" lIns="38100" tIns="12700" rIns="38100" bIns="12700" anchor="t">
            <a:spAutoFit/>
          </a:bodyPr>
          <a:lstStyle/>
          <a:p>
            <a:pPr algn="l"/>
            <a:r>
              <a:rPr sz="1200" b="0">
                <a:solidFill>
                  <a:srgbClr val="1B232B"/>
                </a:solidFill>
                <a:latin typeface="Yu Gothic"/>
              </a:rPr>
              <a:t>なぜその判定になったかを残せるため、報告や注意喚起に使いやすい。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45352" y="3044952"/>
            <a:ext cx="5074920" cy="1207008"/>
          </a:xfrm>
          <a:prstGeom prst="roundRect">
            <a:avLst/>
          </a:prstGeom>
          <a:solidFill>
            <a:srgbClr val="FAEEE3"/>
          </a:solidFill>
          <a:ln w="12700">
            <a:solidFill>
              <a:srgbClr val="D6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46520" y="3246120"/>
            <a:ext cx="4672584" cy="228600"/>
          </a:xfrm>
          <a:prstGeom prst="rect">
            <a:avLst/>
          </a:prstGeom>
          <a:noFill/>
        </p:spPr>
        <p:txBody>
          <a:bodyPr wrap="square" lIns="38100" tIns="12700" rIns="38100" bIns="12700" anchor="t">
            <a:spAutoFit/>
          </a:bodyPr>
          <a:lstStyle/>
          <a:p>
            <a:pPr algn="l"/>
            <a:r>
              <a:rPr sz="1700" b="1">
                <a:solidFill>
                  <a:srgbClr val="CF732F"/>
                </a:solidFill>
                <a:latin typeface="Yu Gothic"/>
              </a:rPr>
              <a:t>早期リスク対応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3630168"/>
            <a:ext cx="4672584" cy="512064"/>
          </a:xfrm>
          <a:prstGeom prst="rect">
            <a:avLst/>
          </a:prstGeom>
          <a:noFill/>
        </p:spPr>
        <p:txBody>
          <a:bodyPr wrap="square" lIns="38100" tIns="12700" rIns="38100" bIns="12700" anchor="t">
            <a:spAutoFit/>
          </a:bodyPr>
          <a:lstStyle/>
          <a:p>
            <a:pPr algn="l"/>
            <a:r>
              <a:rPr sz="1200" b="0">
                <a:solidFill>
                  <a:srgbClr val="1B232B"/>
                </a:solidFill>
                <a:latin typeface="Yu Gothic"/>
              </a:rPr>
              <a:t>拡散前・炎上前の段階で、広報や危機管理の初動を早められる。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87552" y="5102352"/>
            <a:ext cx="10195560" cy="749808"/>
          </a:xfrm>
          <a:prstGeom prst="roundRect">
            <a:avLst/>
          </a:prstGeom>
          <a:solidFill>
            <a:srgbClr val="E8EFF8"/>
          </a:solidFill>
          <a:ln w="12700">
            <a:solidFill>
              <a:srgbClr val="D6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234440" y="5358384"/>
            <a:ext cx="9692640" cy="228600"/>
          </a:xfrm>
          <a:prstGeom prst="rect">
            <a:avLst/>
          </a:prstGeom>
          <a:noFill/>
        </p:spPr>
        <p:txBody>
          <a:bodyPr wrap="square" lIns="38100" tIns="12700" rIns="38100" bIns="12700" anchor="t">
            <a:spAutoFit/>
          </a:bodyPr>
          <a:lstStyle/>
          <a:p>
            <a:pPr algn="ctr"/>
            <a:r>
              <a:rPr sz="1700" b="1">
                <a:solidFill>
                  <a:srgbClr val="183048"/>
                </a:solidFill>
                <a:latin typeface="Yu Gothic"/>
              </a:rPr>
              <a:t>最終判断は人間が行い、Ver4は確認対象と根拠を整理する役割を持つ。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6446520"/>
            <a:ext cx="6583680" cy="164592"/>
          </a:xfrm>
          <a:prstGeom prst="rect">
            <a:avLst/>
          </a:prstGeom>
          <a:noFill/>
        </p:spPr>
        <p:txBody>
          <a:bodyPr wrap="square" lIns="38100" tIns="12700" rIns="38100" bIns="12700" anchor="t">
            <a:spAutoFit/>
          </a:bodyPr>
          <a:lstStyle/>
          <a:p>
            <a:pPr algn="l"/>
            <a:r>
              <a:rPr sz="800" b="0">
                <a:solidFill>
                  <a:srgbClr val="58636E"/>
                </a:solidFill>
                <a:latin typeface="Yu Gothic"/>
              </a:rPr>
              <a:t>Fake News Checker Ver4 | 5. ビジネスインパクト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201400" y="6446520"/>
            <a:ext cx="502920" cy="164592"/>
          </a:xfrm>
          <a:prstGeom prst="rect">
            <a:avLst/>
          </a:prstGeom>
          <a:noFill/>
        </p:spPr>
        <p:txBody>
          <a:bodyPr wrap="square" lIns="38100" tIns="12700" rIns="38100" bIns="12700" anchor="t">
            <a:spAutoFit/>
          </a:bodyPr>
          <a:lstStyle/>
          <a:p>
            <a:pPr algn="r"/>
            <a:r>
              <a:rPr sz="800" b="0">
                <a:solidFill>
                  <a:srgbClr val="58636E"/>
                </a:solidFill>
                <a:latin typeface="Yu Gothic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10896"/>
            <a:ext cx="9966960" cy="384048"/>
          </a:xfrm>
          <a:prstGeom prst="rect">
            <a:avLst/>
          </a:prstGeom>
          <a:noFill/>
        </p:spPr>
        <p:txBody>
          <a:bodyPr wrap="square" lIns="38100" tIns="12700" rIns="38100" bIns="12700" anchor="t">
            <a:spAutoFit/>
          </a:bodyPr>
          <a:lstStyle/>
          <a:p>
            <a:pPr algn="l"/>
            <a:r>
              <a:rPr sz="2500" b="1">
                <a:solidFill>
                  <a:srgbClr val="183048"/>
                </a:solidFill>
                <a:latin typeface="Yu Gothic"/>
              </a:rPr>
              <a:t>業務フローでの使い方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5216" y="740664"/>
            <a:ext cx="10241280" cy="237744"/>
          </a:xfrm>
          <a:prstGeom prst="rect">
            <a:avLst/>
          </a:prstGeom>
          <a:noFill/>
        </p:spPr>
        <p:txBody>
          <a:bodyPr wrap="square" lIns="38100" tIns="12700" rIns="38100" bIns="12700" anchor="t">
            <a:spAutoFit/>
          </a:bodyPr>
          <a:lstStyle/>
          <a:p>
            <a:pPr algn="l"/>
            <a:r>
              <a:rPr sz="1000" b="0">
                <a:solidFill>
                  <a:srgbClr val="58636E"/>
                </a:solidFill>
                <a:latin typeface="Yu Gothic"/>
              </a:rPr>
              <a:t>人間の確認プロセスに組み込む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05840"/>
            <a:ext cx="11018520" cy="18288"/>
          </a:xfrm>
          <a:prstGeom prst="rect">
            <a:avLst/>
          </a:prstGeom>
          <a:solidFill>
            <a:srgbClr val="D6DC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868680" y="1261872"/>
            <a:ext cx="10469880" cy="60350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051560" y="1444752"/>
            <a:ext cx="384048" cy="384048"/>
          </a:xfrm>
          <a:prstGeom prst="ellipse">
            <a:avLst/>
          </a:prstGeom>
          <a:solidFill>
            <a:srgbClr val="0F7C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51560" y="1508760"/>
            <a:ext cx="384048" cy="146304"/>
          </a:xfrm>
          <a:prstGeom prst="rect">
            <a:avLst/>
          </a:prstGeom>
          <a:noFill/>
        </p:spPr>
        <p:txBody>
          <a:bodyPr wrap="square" lIns="38100" tIns="12700" rIns="38100" bIns="12700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Yu Gothic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" y="1463040"/>
            <a:ext cx="3108960" cy="201168"/>
          </a:xfrm>
          <a:prstGeom prst="rect">
            <a:avLst/>
          </a:prstGeom>
          <a:noFill/>
        </p:spPr>
        <p:txBody>
          <a:bodyPr wrap="square" lIns="38100" tIns="12700" rIns="38100" bIns="12700" anchor="t">
            <a:spAutoFit/>
          </a:bodyPr>
          <a:lstStyle/>
          <a:p>
            <a:pPr algn="l"/>
            <a:r>
              <a:rPr sz="1600" b="1">
                <a:solidFill>
                  <a:srgbClr val="0F7C80"/>
                </a:solidFill>
                <a:latin typeface="Yu Gothic"/>
              </a:rPr>
              <a:t>情報収集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37760" y="1481328"/>
            <a:ext cx="6126480" cy="182880"/>
          </a:xfrm>
          <a:prstGeom prst="rect">
            <a:avLst/>
          </a:prstGeom>
          <a:noFill/>
        </p:spPr>
        <p:txBody>
          <a:bodyPr wrap="square" lIns="38100" tIns="12700" rIns="38100" bIns="12700" anchor="t">
            <a:spAutoFit/>
          </a:bodyPr>
          <a:lstStyle/>
          <a:p>
            <a:pPr algn="l"/>
            <a:r>
              <a:rPr sz="1200" b="0">
                <a:solidFill>
                  <a:srgbClr val="1B232B"/>
                </a:solidFill>
                <a:latin typeface="Yu Gothic"/>
              </a:rPr>
              <a:t>SNS投稿・ニュース記事・問い合わせ内容を収集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5669280" y="1883664"/>
            <a:ext cx="228600" cy="164592"/>
          </a:xfrm>
          <a:prstGeom prst="rightArrow">
            <a:avLst/>
          </a:prstGeom>
          <a:solidFill>
            <a:srgbClr val="5863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868680" y="2103120"/>
            <a:ext cx="10469880" cy="60350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1051560" y="2286000"/>
            <a:ext cx="384048" cy="384048"/>
          </a:xfrm>
          <a:prstGeom prst="ellipse">
            <a:avLst/>
          </a:prstGeom>
          <a:solidFill>
            <a:srgbClr val="3D8F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51560" y="2350008"/>
            <a:ext cx="384048" cy="146304"/>
          </a:xfrm>
          <a:prstGeom prst="rect">
            <a:avLst/>
          </a:prstGeom>
          <a:noFill/>
        </p:spPr>
        <p:txBody>
          <a:bodyPr wrap="square" lIns="38100" tIns="12700" rIns="38100" bIns="12700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Yu Gothic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45920" y="2304288"/>
            <a:ext cx="3108960" cy="201168"/>
          </a:xfrm>
          <a:prstGeom prst="rect">
            <a:avLst/>
          </a:prstGeom>
          <a:noFill/>
        </p:spPr>
        <p:txBody>
          <a:bodyPr wrap="square" lIns="38100" tIns="12700" rIns="38100" bIns="12700" anchor="t">
            <a:spAutoFit/>
          </a:bodyPr>
          <a:lstStyle/>
          <a:p>
            <a:pPr algn="l"/>
            <a:r>
              <a:rPr sz="1600" b="1">
                <a:solidFill>
                  <a:srgbClr val="3D8F63"/>
                </a:solidFill>
                <a:latin typeface="Yu Gothic"/>
              </a:rPr>
              <a:t>AI一次判定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37760" y="2322576"/>
            <a:ext cx="6126480" cy="182880"/>
          </a:xfrm>
          <a:prstGeom prst="rect">
            <a:avLst/>
          </a:prstGeom>
          <a:noFill/>
        </p:spPr>
        <p:txBody>
          <a:bodyPr wrap="square" lIns="38100" tIns="12700" rIns="38100" bIns="12700" anchor="t">
            <a:spAutoFit/>
          </a:bodyPr>
          <a:lstStyle/>
          <a:p>
            <a:pPr algn="l"/>
            <a:r>
              <a:rPr sz="1200" b="0">
                <a:solidFill>
                  <a:srgbClr val="1B232B"/>
                </a:solidFill>
                <a:latin typeface="Yu Gothic"/>
              </a:rPr>
              <a:t>Ver4で要注意度、判定、理由、確認リンクを出力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5669280" y="2724912"/>
            <a:ext cx="228600" cy="164592"/>
          </a:xfrm>
          <a:prstGeom prst="rightArrow">
            <a:avLst/>
          </a:prstGeom>
          <a:solidFill>
            <a:srgbClr val="5863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868680" y="2944368"/>
            <a:ext cx="10469880" cy="60350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1051560" y="3127248"/>
            <a:ext cx="384048" cy="384048"/>
          </a:xfrm>
          <a:prstGeom prst="ellipse">
            <a:avLst/>
          </a:prstGeom>
          <a:solidFill>
            <a:srgbClr val="BF97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051560" y="3191256"/>
            <a:ext cx="384048" cy="146304"/>
          </a:xfrm>
          <a:prstGeom prst="rect">
            <a:avLst/>
          </a:prstGeom>
          <a:noFill/>
        </p:spPr>
        <p:txBody>
          <a:bodyPr wrap="square" lIns="38100" tIns="12700" rIns="38100" bIns="12700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Yu Gothi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45920" y="3145536"/>
            <a:ext cx="3108960" cy="201168"/>
          </a:xfrm>
          <a:prstGeom prst="rect">
            <a:avLst/>
          </a:prstGeom>
          <a:noFill/>
        </p:spPr>
        <p:txBody>
          <a:bodyPr wrap="square" lIns="38100" tIns="12700" rIns="38100" bIns="12700" anchor="t">
            <a:spAutoFit/>
          </a:bodyPr>
          <a:lstStyle/>
          <a:p>
            <a:pPr algn="l"/>
            <a:r>
              <a:rPr sz="1600" b="1">
                <a:solidFill>
                  <a:srgbClr val="BF9730"/>
                </a:solidFill>
                <a:latin typeface="Yu Gothic"/>
              </a:rPr>
              <a:t>人間の確認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937760" y="3163824"/>
            <a:ext cx="6126480" cy="182880"/>
          </a:xfrm>
          <a:prstGeom prst="rect">
            <a:avLst/>
          </a:prstGeom>
          <a:noFill/>
        </p:spPr>
        <p:txBody>
          <a:bodyPr wrap="square" lIns="38100" tIns="12700" rIns="38100" bIns="12700" anchor="t">
            <a:spAutoFit/>
          </a:bodyPr>
          <a:lstStyle/>
          <a:p>
            <a:pPr algn="l"/>
            <a:r>
              <a:rPr sz="1200" b="0">
                <a:solidFill>
                  <a:srgbClr val="1B232B"/>
                </a:solidFill>
                <a:latin typeface="Yu Gothic"/>
              </a:rPr>
              <a:t>担当者が根拠を確認し、最終判断を行う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5669280" y="3566160"/>
            <a:ext cx="228600" cy="164592"/>
          </a:xfrm>
          <a:prstGeom prst="rightArrow">
            <a:avLst/>
          </a:prstGeom>
          <a:solidFill>
            <a:srgbClr val="5863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868680" y="3785616"/>
            <a:ext cx="10469880" cy="60350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1051560" y="3968496"/>
            <a:ext cx="384048" cy="384048"/>
          </a:xfrm>
          <a:prstGeom prst="ellipse">
            <a:avLst/>
          </a:prstGeom>
          <a:solidFill>
            <a:srgbClr val="CF73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051560" y="4032504"/>
            <a:ext cx="384048" cy="146304"/>
          </a:xfrm>
          <a:prstGeom prst="rect">
            <a:avLst/>
          </a:prstGeom>
          <a:noFill/>
        </p:spPr>
        <p:txBody>
          <a:bodyPr wrap="square" lIns="38100" tIns="12700" rIns="38100" bIns="12700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Yu Gothic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645920" y="3986784"/>
            <a:ext cx="3108960" cy="201168"/>
          </a:xfrm>
          <a:prstGeom prst="rect">
            <a:avLst/>
          </a:prstGeom>
          <a:noFill/>
        </p:spPr>
        <p:txBody>
          <a:bodyPr wrap="square" lIns="38100" tIns="12700" rIns="38100" bIns="12700" anchor="t">
            <a:spAutoFit/>
          </a:bodyPr>
          <a:lstStyle/>
          <a:p>
            <a:pPr algn="l"/>
            <a:r>
              <a:rPr sz="1600" b="1">
                <a:solidFill>
                  <a:srgbClr val="CF732F"/>
                </a:solidFill>
                <a:latin typeface="Yu Gothic"/>
              </a:rPr>
              <a:t>対応判断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937760" y="4005072"/>
            <a:ext cx="6126480" cy="182880"/>
          </a:xfrm>
          <a:prstGeom prst="rect">
            <a:avLst/>
          </a:prstGeom>
          <a:noFill/>
        </p:spPr>
        <p:txBody>
          <a:bodyPr wrap="square" lIns="38100" tIns="12700" rIns="38100" bIns="12700" anchor="t">
            <a:spAutoFit/>
          </a:bodyPr>
          <a:lstStyle/>
          <a:p>
            <a:pPr algn="l"/>
            <a:r>
              <a:rPr sz="1200" b="0">
                <a:solidFill>
                  <a:srgbClr val="1B232B"/>
                </a:solidFill>
                <a:latin typeface="Yu Gothic"/>
              </a:rPr>
              <a:t>訂正、注意喚起、社内共有、追加調査を決める</a:t>
            </a:r>
          </a:p>
        </p:txBody>
      </p:sp>
      <p:sp>
        <p:nvSpPr>
          <p:cNvPr id="28" name="Right Arrow 27"/>
          <p:cNvSpPr/>
          <p:nvPr/>
        </p:nvSpPr>
        <p:spPr>
          <a:xfrm>
            <a:off x="5669280" y="4407408"/>
            <a:ext cx="228600" cy="164592"/>
          </a:xfrm>
          <a:prstGeom prst="rightArrow">
            <a:avLst/>
          </a:prstGeom>
          <a:solidFill>
            <a:srgbClr val="5863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868680" y="4626864"/>
            <a:ext cx="10469880" cy="60350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1051560" y="4809744"/>
            <a:ext cx="384048" cy="384048"/>
          </a:xfrm>
          <a:prstGeom prst="ellipse">
            <a:avLst/>
          </a:prstGeom>
          <a:solidFill>
            <a:srgbClr val="B63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1051560" y="4873752"/>
            <a:ext cx="384048" cy="146304"/>
          </a:xfrm>
          <a:prstGeom prst="rect">
            <a:avLst/>
          </a:prstGeom>
          <a:noFill/>
        </p:spPr>
        <p:txBody>
          <a:bodyPr wrap="square" lIns="38100" tIns="12700" rIns="38100" bIns="12700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Yu Gothic"/>
              </a:rP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645920" y="4828032"/>
            <a:ext cx="3108960" cy="201168"/>
          </a:xfrm>
          <a:prstGeom prst="rect">
            <a:avLst/>
          </a:prstGeom>
          <a:noFill/>
        </p:spPr>
        <p:txBody>
          <a:bodyPr wrap="square" lIns="38100" tIns="12700" rIns="38100" bIns="12700" anchor="t">
            <a:spAutoFit/>
          </a:bodyPr>
          <a:lstStyle/>
          <a:p>
            <a:pPr algn="l"/>
            <a:r>
              <a:rPr sz="1600" b="1">
                <a:solidFill>
                  <a:srgbClr val="B63F3F"/>
                </a:solidFill>
                <a:latin typeface="Yu Gothic"/>
              </a:rPr>
              <a:t>記録化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937760" y="4846320"/>
            <a:ext cx="6126480" cy="182880"/>
          </a:xfrm>
          <a:prstGeom prst="rect">
            <a:avLst/>
          </a:prstGeom>
          <a:noFill/>
        </p:spPr>
        <p:txBody>
          <a:bodyPr wrap="square" lIns="38100" tIns="12700" rIns="38100" bIns="12700" anchor="t">
            <a:spAutoFit/>
          </a:bodyPr>
          <a:lstStyle/>
          <a:p>
            <a:pPr algn="l"/>
            <a:r>
              <a:rPr sz="1200" b="0">
                <a:solidFill>
                  <a:srgbClr val="1B232B"/>
                </a:solidFill>
                <a:latin typeface="Yu Gothic"/>
              </a:rPr>
              <a:t>判定理由と根拠をレポートとして残す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41248" y="5806440"/>
            <a:ext cx="10469880" cy="256032"/>
          </a:xfrm>
          <a:prstGeom prst="rect">
            <a:avLst/>
          </a:prstGeom>
          <a:noFill/>
        </p:spPr>
        <p:txBody>
          <a:bodyPr wrap="square" lIns="38100" tIns="12700" rIns="38100" bIns="12700" anchor="t">
            <a:spAutoFit/>
          </a:bodyPr>
          <a:lstStyle/>
          <a:p>
            <a:pPr algn="ctr"/>
            <a:r>
              <a:rPr sz="1500" b="1">
                <a:solidFill>
                  <a:srgbClr val="183048"/>
                </a:solidFill>
                <a:latin typeface="Yu Gothic"/>
              </a:rPr>
              <a:t>導入イメージ: 既存の監視・広報・調査フローの前段に、AIの一次確認を入れる。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94360" y="6446520"/>
            <a:ext cx="6583680" cy="164592"/>
          </a:xfrm>
          <a:prstGeom prst="rect">
            <a:avLst/>
          </a:prstGeom>
          <a:noFill/>
        </p:spPr>
        <p:txBody>
          <a:bodyPr wrap="square" lIns="38100" tIns="12700" rIns="38100" bIns="12700" anchor="t">
            <a:spAutoFit/>
          </a:bodyPr>
          <a:lstStyle/>
          <a:p>
            <a:pPr algn="l"/>
            <a:r>
              <a:rPr sz="800" b="0">
                <a:solidFill>
                  <a:srgbClr val="58636E"/>
                </a:solidFill>
                <a:latin typeface="Yu Gothic"/>
              </a:rPr>
              <a:t>Fake News Checker Ver4 | 5. ビジネスインパクト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201400" y="6446520"/>
            <a:ext cx="502920" cy="164592"/>
          </a:xfrm>
          <a:prstGeom prst="rect">
            <a:avLst/>
          </a:prstGeom>
          <a:noFill/>
        </p:spPr>
        <p:txBody>
          <a:bodyPr wrap="square" lIns="38100" tIns="12700" rIns="38100" bIns="12700" anchor="t">
            <a:spAutoFit/>
          </a:bodyPr>
          <a:lstStyle/>
          <a:p>
            <a:pPr algn="r"/>
            <a:r>
              <a:rPr sz="800" b="0">
                <a:solidFill>
                  <a:srgbClr val="58636E"/>
                </a:solidFill>
                <a:latin typeface="Yu Gothic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10896"/>
            <a:ext cx="9966960" cy="384048"/>
          </a:xfrm>
          <a:prstGeom prst="rect">
            <a:avLst/>
          </a:prstGeom>
          <a:noFill/>
        </p:spPr>
        <p:txBody>
          <a:bodyPr wrap="square" lIns="38100" tIns="12700" rIns="38100" bIns="12700" anchor="t">
            <a:spAutoFit/>
          </a:bodyPr>
          <a:lstStyle/>
          <a:p>
            <a:pPr algn="l"/>
            <a:r>
              <a:rPr sz="2500" b="1">
                <a:solidFill>
                  <a:srgbClr val="183048"/>
                </a:solidFill>
                <a:latin typeface="Yu Gothic"/>
              </a:rPr>
              <a:t>活用できる場面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5216" y="740664"/>
            <a:ext cx="10241280" cy="237744"/>
          </a:xfrm>
          <a:prstGeom prst="rect">
            <a:avLst/>
          </a:prstGeom>
          <a:noFill/>
        </p:spPr>
        <p:txBody>
          <a:bodyPr wrap="square" lIns="38100" tIns="12700" rIns="38100" bIns="12700" anchor="t">
            <a:spAutoFit/>
          </a:bodyPr>
          <a:lstStyle/>
          <a:p>
            <a:pPr algn="l"/>
            <a:r>
              <a:rPr sz="1000" b="0">
                <a:solidFill>
                  <a:srgbClr val="58636E"/>
                </a:solidFill>
                <a:latin typeface="Yu Gothic"/>
              </a:rPr>
              <a:t>誤情報が判断や行動に影響する領域で価値が出やすい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05840"/>
            <a:ext cx="11018520" cy="18288"/>
          </a:xfrm>
          <a:prstGeom prst="rect">
            <a:avLst/>
          </a:prstGeom>
          <a:solidFill>
            <a:srgbClr val="D6DC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13232" y="1417320"/>
            <a:ext cx="5074920" cy="1207008"/>
          </a:xfrm>
          <a:prstGeom prst="roundRect">
            <a:avLst/>
          </a:prstGeom>
          <a:solidFill>
            <a:srgbClr val="E6F3F0"/>
          </a:solidFill>
          <a:ln w="12700">
            <a:solidFill>
              <a:srgbClr val="D6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618488"/>
            <a:ext cx="4672584" cy="228600"/>
          </a:xfrm>
          <a:prstGeom prst="rect">
            <a:avLst/>
          </a:prstGeom>
          <a:noFill/>
        </p:spPr>
        <p:txBody>
          <a:bodyPr wrap="square" lIns="38100" tIns="12700" rIns="38100" bIns="12700" anchor="t">
            <a:spAutoFit/>
          </a:bodyPr>
          <a:lstStyle/>
          <a:p>
            <a:pPr algn="l"/>
            <a:r>
              <a:rPr sz="1700" b="1">
                <a:solidFill>
                  <a:srgbClr val="0F7C80"/>
                </a:solidFill>
                <a:latin typeface="Yu Gothic"/>
              </a:rPr>
              <a:t>メディア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002536"/>
            <a:ext cx="4672584" cy="512064"/>
          </a:xfrm>
          <a:prstGeom prst="rect">
            <a:avLst/>
          </a:prstGeom>
          <a:noFill/>
        </p:spPr>
        <p:txBody>
          <a:bodyPr wrap="square" lIns="38100" tIns="12700" rIns="38100" bIns="12700" anchor="t">
            <a:spAutoFit/>
          </a:bodyPr>
          <a:lstStyle/>
          <a:p>
            <a:pPr algn="l"/>
            <a:r>
              <a:rPr sz="1200" b="0">
                <a:solidFill>
                  <a:srgbClr val="1B232B"/>
                </a:solidFill>
                <a:latin typeface="Yu Gothic"/>
              </a:rPr>
              <a:t>記事やSNS上の主張を確認し、ファクトチェックの初動を速くする。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45352" y="1417320"/>
            <a:ext cx="5074920" cy="1207008"/>
          </a:xfrm>
          <a:prstGeom prst="roundRect">
            <a:avLst/>
          </a:prstGeom>
          <a:solidFill>
            <a:srgbClr val="E8F4EB"/>
          </a:solidFill>
          <a:ln w="12700">
            <a:solidFill>
              <a:srgbClr val="D6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46520" y="1618488"/>
            <a:ext cx="4672584" cy="228600"/>
          </a:xfrm>
          <a:prstGeom prst="rect">
            <a:avLst/>
          </a:prstGeom>
          <a:noFill/>
        </p:spPr>
        <p:txBody>
          <a:bodyPr wrap="square" lIns="38100" tIns="12700" rIns="38100" bIns="12700" anchor="t">
            <a:spAutoFit/>
          </a:bodyPr>
          <a:lstStyle/>
          <a:p>
            <a:pPr algn="l"/>
            <a:r>
              <a:rPr sz="1700" b="1">
                <a:solidFill>
                  <a:srgbClr val="3D8F63"/>
                </a:solidFill>
                <a:latin typeface="Yu Gothic"/>
              </a:rPr>
              <a:t>企業広報・危機管理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46520" y="2002536"/>
            <a:ext cx="4672584" cy="512064"/>
          </a:xfrm>
          <a:prstGeom prst="rect">
            <a:avLst/>
          </a:prstGeom>
          <a:noFill/>
        </p:spPr>
        <p:txBody>
          <a:bodyPr wrap="square" lIns="38100" tIns="12700" rIns="38100" bIns="12700" anchor="t">
            <a:spAutoFit/>
          </a:bodyPr>
          <a:lstStyle/>
          <a:p>
            <a:pPr algn="l"/>
            <a:r>
              <a:rPr sz="1200" b="0">
                <a:solidFill>
                  <a:srgbClr val="1B232B"/>
                </a:solidFill>
                <a:latin typeface="Yu Gothic"/>
              </a:rPr>
              <a:t>自社や業界に関する誤情報を早期に検知し、対応を判断する。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13232" y="3044952"/>
            <a:ext cx="5074920" cy="1207008"/>
          </a:xfrm>
          <a:prstGeom prst="roundRect">
            <a:avLst/>
          </a:prstGeom>
          <a:solidFill>
            <a:srgbClr val="FBF6E2"/>
          </a:solidFill>
          <a:ln w="12700">
            <a:solidFill>
              <a:srgbClr val="D6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14400" y="3246120"/>
            <a:ext cx="4672584" cy="228600"/>
          </a:xfrm>
          <a:prstGeom prst="rect">
            <a:avLst/>
          </a:prstGeom>
          <a:noFill/>
        </p:spPr>
        <p:txBody>
          <a:bodyPr wrap="square" lIns="38100" tIns="12700" rIns="38100" bIns="12700" anchor="t">
            <a:spAutoFit/>
          </a:bodyPr>
          <a:lstStyle/>
          <a:p>
            <a:pPr algn="l"/>
            <a:r>
              <a:rPr sz="1700" b="1">
                <a:solidFill>
                  <a:srgbClr val="BF9730"/>
                </a:solidFill>
                <a:latin typeface="Yu Gothic"/>
              </a:rPr>
              <a:t>自治体・公共機関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630168"/>
            <a:ext cx="4672584" cy="512064"/>
          </a:xfrm>
          <a:prstGeom prst="rect">
            <a:avLst/>
          </a:prstGeom>
          <a:noFill/>
        </p:spPr>
        <p:txBody>
          <a:bodyPr wrap="square" lIns="38100" tIns="12700" rIns="38100" bIns="12700" anchor="t">
            <a:spAutoFit/>
          </a:bodyPr>
          <a:lstStyle/>
          <a:p>
            <a:pPr algn="l"/>
            <a:r>
              <a:rPr sz="1200" b="0">
                <a:solidFill>
                  <a:srgbClr val="1B232B"/>
                </a:solidFill>
                <a:latin typeface="Yu Gothic"/>
              </a:rPr>
              <a:t>災害時や緊急時の不確かな情報を確認し、住民向け発信を支援する。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45352" y="3044952"/>
            <a:ext cx="5074920" cy="1207008"/>
          </a:xfrm>
          <a:prstGeom prst="roundRect">
            <a:avLst/>
          </a:prstGeom>
          <a:solidFill>
            <a:srgbClr val="FAEEE3"/>
          </a:solidFill>
          <a:ln w="12700">
            <a:solidFill>
              <a:srgbClr val="D6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46520" y="3246120"/>
            <a:ext cx="4672584" cy="228600"/>
          </a:xfrm>
          <a:prstGeom prst="rect">
            <a:avLst/>
          </a:prstGeom>
          <a:noFill/>
        </p:spPr>
        <p:txBody>
          <a:bodyPr wrap="square" lIns="38100" tIns="12700" rIns="38100" bIns="12700" anchor="t">
            <a:spAutoFit/>
          </a:bodyPr>
          <a:lstStyle/>
          <a:p>
            <a:pPr algn="l"/>
            <a:r>
              <a:rPr sz="1700" b="1">
                <a:solidFill>
                  <a:srgbClr val="CF732F"/>
                </a:solidFill>
                <a:latin typeface="Yu Gothic"/>
              </a:rPr>
              <a:t>金融・医療など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3630168"/>
            <a:ext cx="4672584" cy="512064"/>
          </a:xfrm>
          <a:prstGeom prst="rect">
            <a:avLst/>
          </a:prstGeom>
          <a:noFill/>
        </p:spPr>
        <p:txBody>
          <a:bodyPr wrap="square" lIns="38100" tIns="12700" rIns="38100" bIns="12700" anchor="t">
            <a:spAutoFit/>
          </a:bodyPr>
          <a:lstStyle/>
          <a:p>
            <a:pPr algn="l"/>
            <a:r>
              <a:rPr sz="1200" b="0">
                <a:solidFill>
                  <a:srgbClr val="1B232B"/>
                </a:solidFill>
                <a:latin typeface="Yu Gothic"/>
              </a:rPr>
              <a:t>誤情報の影響が大きい分野で、根拠確認の優先順位づけに使う。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87552" y="5102352"/>
            <a:ext cx="10195560" cy="749808"/>
          </a:xfrm>
          <a:prstGeom prst="roundRect">
            <a:avLst/>
          </a:prstGeom>
          <a:solidFill>
            <a:srgbClr val="F9E8E8"/>
          </a:solidFill>
          <a:ln w="12700">
            <a:solidFill>
              <a:srgbClr val="D6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234440" y="5358384"/>
            <a:ext cx="9692640" cy="228600"/>
          </a:xfrm>
          <a:prstGeom prst="rect">
            <a:avLst/>
          </a:prstGeom>
          <a:noFill/>
        </p:spPr>
        <p:txBody>
          <a:bodyPr wrap="square" lIns="38100" tIns="12700" rIns="38100" bIns="12700" anchor="t">
            <a:spAutoFit/>
          </a:bodyPr>
          <a:lstStyle/>
          <a:p>
            <a:pPr algn="ctr"/>
            <a:r>
              <a:rPr sz="1600" b="1">
                <a:solidFill>
                  <a:srgbClr val="B63F3F"/>
                </a:solidFill>
                <a:latin typeface="Yu Gothic"/>
              </a:rPr>
              <a:t>注意: 判定結果をそのまま公開判断に使わず、人間が根拠を確認して最終判断する。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6446520"/>
            <a:ext cx="6583680" cy="164592"/>
          </a:xfrm>
          <a:prstGeom prst="rect">
            <a:avLst/>
          </a:prstGeom>
          <a:noFill/>
        </p:spPr>
        <p:txBody>
          <a:bodyPr wrap="square" lIns="38100" tIns="12700" rIns="38100" bIns="12700" anchor="t">
            <a:spAutoFit/>
          </a:bodyPr>
          <a:lstStyle/>
          <a:p>
            <a:pPr algn="l"/>
            <a:r>
              <a:rPr sz="800" b="0">
                <a:solidFill>
                  <a:srgbClr val="58636E"/>
                </a:solidFill>
                <a:latin typeface="Yu Gothic"/>
              </a:rPr>
              <a:t>Fake News Checker Ver4 | 5. ビジネスインパクト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46339" y="6446520"/>
            <a:ext cx="502920" cy="164592"/>
          </a:xfrm>
          <a:prstGeom prst="rect">
            <a:avLst/>
          </a:prstGeom>
          <a:noFill/>
        </p:spPr>
        <p:txBody>
          <a:bodyPr wrap="square" lIns="38100" tIns="12700" rIns="38100" bIns="12700" anchor="t">
            <a:spAutoFit/>
          </a:bodyPr>
          <a:lstStyle/>
          <a:p>
            <a:pPr algn="r"/>
            <a:r>
              <a:rPr sz="800" b="0">
                <a:solidFill>
                  <a:srgbClr val="58636E"/>
                </a:solidFill>
                <a:latin typeface="Yu Gothic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10896"/>
            <a:ext cx="9966960" cy="384048"/>
          </a:xfrm>
          <a:prstGeom prst="rect">
            <a:avLst/>
          </a:prstGeom>
          <a:noFill/>
        </p:spPr>
        <p:txBody>
          <a:bodyPr wrap="square" lIns="38100" tIns="12700" rIns="38100" bIns="12700" anchor="t">
            <a:spAutoFit/>
          </a:bodyPr>
          <a:lstStyle/>
          <a:p>
            <a:pPr algn="l"/>
            <a:r>
              <a:rPr sz="2500" b="1">
                <a:solidFill>
                  <a:srgbClr val="183048"/>
                </a:solidFill>
                <a:latin typeface="Yu Gothic"/>
              </a:rPr>
              <a:t>まとめ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5216" y="740664"/>
            <a:ext cx="10241280" cy="237744"/>
          </a:xfrm>
          <a:prstGeom prst="rect">
            <a:avLst/>
          </a:prstGeom>
          <a:noFill/>
        </p:spPr>
        <p:txBody>
          <a:bodyPr wrap="square" lIns="38100" tIns="12700" rIns="38100" bIns="12700" anchor="t">
            <a:spAutoFit/>
          </a:bodyPr>
          <a:lstStyle/>
          <a:p>
            <a:pPr algn="l"/>
            <a:r>
              <a:rPr sz="1000" b="0">
                <a:solidFill>
                  <a:srgbClr val="58636E"/>
                </a:solidFill>
                <a:latin typeface="Yu Gothic"/>
              </a:rPr>
              <a:t>Ver4の価値は、根拠付きで確認作業を速くすること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05840"/>
            <a:ext cx="11018520" cy="18288"/>
          </a:xfrm>
          <a:prstGeom prst="rect">
            <a:avLst/>
          </a:prstGeom>
          <a:solidFill>
            <a:srgbClr val="D6DC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960120" y="1444752"/>
            <a:ext cx="10149840" cy="1097280"/>
          </a:xfrm>
          <a:prstGeom prst="roundRect">
            <a:avLst/>
          </a:prstGeom>
          <a:solidFill>
            <a:srgbClr val="E6F3F0"/>
          </a:solidFill>
          <a:ln w="12700">
            <a:solidFill>
              <a:srgbClr val="D6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207008" y="1755648"/>
            <a:ext cx="9674352" cy="310896"/>
          </a:xfrm>
          <a:prstGeom prst="rect">
            <a:avLst/>
          </a:prstGeom>
          <a:noFill/>
        </p:spPr>
        <p:txBody>
          <a:bodyPr wrap="square" lIns="38100" tIns="12700" rIns="38100" bIns="12700" anchor="t">
            <a:spAutoFit/>
          </a:bodyPr>
          <a:lstStyle/>
          <a:p>
            <a:pPr algn="ctr"/>
            <a:r>
              <a:rPr sz="2400" b="1">
                <a:solidFill>
                  <a:srgbClr val="183048"/>
                </a:solidFill>
                <a:latin typeface="Yu Gothic"/>
              </a:rPr>
              <a:t>大量情報の一次スクリーニング + 根拠付きレポート化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3063240"/>
            <a:ext cx="9464040" cy="1691640"/>
          </a:xfrm>
          <a:prstGeom prst="rect">
            <a:avLst/>
          </a:prstGeom>
          <a:noFill/>
        </p:spPr>
        <p:txBody>
          <a:bodyPr wrap="square" lIns="38100" tIns="12700" rIns="38100" bIns="12700" anchor="t">
            <a:spAutoFit/>
          </a:bodyPr>
          <a:lstStyle/>
          <a:p>
            <a:pPr>
              <a:lnSpc>
                <a:spcPct val="110000"/>
              </a:lnSpc>
              <a:spcAft>
                <a:spcPts val="500"/>
              </a:spcAft>
              <a:defRPr sz="1700">
                <a:solidFill>
                  <a:srgbClr val="1B232B"/>
                </a:solidFill>
                <a:latin typeface="Yu Gothic"/>
              </a:defRPr>
            </a:pPr>
            <a:r>
              <a:t>• 要注意情報を早く見つけ、人間の確認対象を絞り込む</a:t>
            </a:r>
          </a:p>
          <a:p>
            <a:pPr>
              <a:lnSpc>
                <a:spcPct val="110000"/>
              </a:lnSpc>
              <a:spcAft>
                <a:spcPts val="500"/>
              </a:spcAft>
              <a:defRPr sz="1700">
                <a:solidFill>
                  <a:srgbClr val="1B232B"/>
                </a:solidFill>
                <a:latin typeface="Yu Gothic"/>
              </a:defRPr>
            </a:pPr>
            <a:r>
              <a:t>• 判定理由と確認リンクにより、調査の初動を短縮する</a:t>
            </a:r>
          </a:p>
          <a:p>
            <a:pPr>
              <a:lnSpc>
                <a:spcPct val="110000"/>
              </a:lnSpc>
              <a:spcAft>
                <a:spcPts val="500"/>
              </a:spcAft>
              <a:defRPr sz="1700">
                <a:solidFill>
                  <a:srgbClr val="1B232B"/>
                </a:solidFill>
                <a:latin typeface="Yu Gothic"/>
              </a:defRPr>
            </a:pPr>
            <a:r>
              <a:t>• 説明責任を支え、広報・危機管理の対応を早める</a:t>
            </a:r>
          </a:p>
          <a:p>
            <a:pPr>
              <a:lnSpc>
                <a:spcPct val="110000"/>
              </a:lnSpc>
              <a:spcAft>
                <a:spcPts val="500"/>
              </a:spcAft>
              <a:defRPr sz="1700">
                <a:solidFill>
                  <a:srgbClr val="1B232B"/>
                </a:solidFill>
                <a:latin typeface="Yu Gothic"/>
              </a:defRPr>
            </a:pPr>
            <a:r>
              <a:t>• AIは最終判断者ではなく、人間の判断を支援する位置づけ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5614416"/>
            <a:ext cx="10058400" cy="347472"/>
          </a:xfrm>
          <a:prstGeom prst="rect">
            <a:avLst/>
          </a:prstGeom>
          <a:noFill/>
        </p:spPr>
        <p:txBody>
          <a:bodyPr wrap="square" lIns="38100" tIns="12700" rIns="38100" bIns="12700" anchor="t">
            <a:spAutoFit/>
          </a:bodyPr>
          <a:lstStyle/>
          <a:p>
            <a:pPr algn="ctr"/>
            <a:r>
              <a:rPr sz="1700" b="1">
                <a:solidFill>
                  <a:srgbClr val="0F7C80"/>
                </a:solidFill>
                <a:latin typeface="Yu Gothic"/>
              </a:rPr>
              <a:t>プレゼンでの一言: Ver4は、人がより早く、根拠を持って確認するための支援ツールです。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6446520"/>
            <a:ext cx="6583680" cy="164592"/>
          </a:xfrm>
          <a:prstGeom prst="rect">
            <a:avLst/>
          </a:prstGeom>
          <a:noFill/>
        </p:spPr>
        <p:txBody>
          <a:bodyPr wrap="square" lIns="38100" tIns="12700" rIns="38100" bIns="12700" anchor="t">
            <a:spAutoFit/>
          </a:bodyPr>
          <a:lstStyle/>
          <a:p>
            <a:pPr algn="l"/>
            <a:r>
              <a:rPr sz="800" b="0">
                <a:solidFill>
                  <a:srgbClr val="58636E"/>
                </a:solidFill>
                <a:latin typeface="Yu Gothic"/>
              </a:rPr>
              <a:t>Fake News Checker Ver4 | 5. ビジネスインパクト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01400" y="6446520"/>
            <a:ext cx="502920" cy="164592"/>
          </a:xfrm>
          <a:prstGeom prst="rect">
            <a:avLst/>
          </a:prstGeom>
          <a:noFill/>
        </p:spPr>
        <p:txBody>
          <a:bodyPr wrap="square" lIns="38100" tIns="12700" rIns="38100" bIns="12700" anchor="t">
            <a:spAutoFit/>
          </a:bodyPr>
          <a:lstStyle/>
          <a:p>
            <a:pPr algn="r"/>
            <a:r>
              <a:rPr sz="800" b="0">
                <a:solidFill>
                  <a:srgbClr val="58636E"/>
                </a:solidFill>
                <a:latin typeface="Yu Gothic"/>
              </a:rPr>
              <a:t>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248</Words>
  <Application>Microsoft Office PowerPoint</Application>
  <PresentationFormat>ワイド画面</PresentationFormat>
  <Paragraphs>74</Paragraphs>
  <Slides>6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6</vt:i4>
      </vt:variant>
    </vt:vector>
  </HeadingPairs>
  <TitlesOfParts>
    <vt:vector size="10" baseType="lpstr">
      <vt:lpstr>Yu Gothic</vt:lpstr>
      <vt:lpstr>Arial</vt:lpstr>
      <vt:lpstr>Calibri</vt:lpstr>
      <vt:lpstr>Office Theme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隆之 中村</cp:lastModifiedBy>
  <cp:revision>1</cp:revision>
  <dcterms:created xsi:type="dcterms:W3CDTF">2013-01-27T09:14:16Z</dcterms:created>
  <dcterms:modified xsi:type="dcterms:W3CDTF">2026-04-29T01:20:19Z</dcterms:modified>
  <cp:category/>
</cp:coreProperties>
</file>